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y="5143500" cx="9144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JetBrains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DED83F-D759-436B-B505-F42DF4E00127}">
  <a:tblStyle styleId="{11DED83F-D759-436B-B505-F42DF4E001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FE164B6-8723-4F30-A4D5-ECD01841799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JetBrainsMono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3.xml"/><Relationship Id="rId33" Type="http://schemas.openxmlformats.org/officeDocument/2006/relationships/font" Target="fonts/JetBrainsMono-italic.fntdata"/><Relationship Id="rId10" Type="http://schemas.openxmlformats.org/officeDocument/2006/relationships/slide" Target="slides/slide2.xml"/><Relationship Id="rId32" Type="http://schemas.openxmlformats.org/officeDocument/2006/relationships/font" Target="fonts/JetBrainsMono-bold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34" Type="http://schemas.openxmlformats.org/officeDocument/2006/relationships/font" Target="fonts/JetBrainsMono-boldItalic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bad5f7737_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ebad5f7737_4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bad5f7737_4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2" name="Google Shape;212;g3ebad5f7737_4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bad5f7737_4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ebad5f7737_4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bad5f7737_4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ebad5f7737_4_1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bad5f7737_4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86" name="Google Shape;286;g3ebad5f7737_4_2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bad5f7737_4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/>
          </a:p>
        </p:txBody>
      </p:sp>
      <p:sp>
        <p:nvSpPr>
          <p:cNvPr id="304" name="Google Shape;304;g3ebad5f7737_4_3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bad5f7737_4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20" name="Google Shape;320;g3ebad5f7737_4_2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bb7106206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g3ebb7106206_1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bb7106206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bb7106206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bb7106206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g3ebb7106206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bb7106206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g3ebb7106206_1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bb7106206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g3ebb7106206_1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bb7106206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0" name="Google Shape;450;g3ebb7106206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bb7106206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ebb7106206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4" y="1628776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514350" y="1597819"/>
            <a:ext cx="58293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028700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541735" y="3305175"/>
            <a:ext cx="58293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541735" y="2180035"/>
            <a:ext cx="58293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4290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8615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42900" y="1151335"/>
            <a:ext cx="30300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342900" y="1631156"/>
            <a:ext cx="30300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3483769" y="1151335"/>
            <a:ext cx="30312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3483769" y="1631156"/>
            <a:ext cx="30312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42900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2681287" y="204788"/>
            <a:ext cx="3833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342900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1344216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1344216" y="4025503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731750" y="-188700"/>
            <a:ext cx="33945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3549301" y="1628879"/>
            <a:ext cx="43887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406050" y="142978"/>
            <a:ext cx="4388700" cy="4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3" Type="http://schemas.openxmlformats.org/officeDocument/2006/relationships/image" Target="../media/image8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31.png"/><Relationship Id="rId7" Type="http://schemas.openxmlformats.org/officeDocument/2006/relationships/image" Target="../media/image21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32.png"/><Relationship Id="rId7" Type="http://schemas.openxmlformats.org/officeDocument/2006/relationships/image" Target="../media/image48.png"/><Relationship Id="rId8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2.png"/><Relationship Id="rId5" Type="http://schemas.openxmlformats.org/officeDocument/2006/relationships/image" Target="../media/image19.png"/><Relationship Id="rId6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4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35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.png"/><Relationship Id="rId6" Type="http://schemas.openxmlformats.org/officeDocument/2006/relationships/image" Target="../media/image28.png"/><Relationship Id="rId7" Type="http://schemas.openxmlformats.org/officeDocument/2006/relationships/image" Target="../media/image38.png"/><Relationship Id="rId8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7.png"/><Relationship Id="rId5" Type="http://schemas.openxmlformats.org/officeDocument/2006/relationships/image" Target="../media/image33.png"/><Relationship Id="rId6" Type="http://schemas.openxmlformats.org/officeDocument/2006/relationships/image" Target="../media/image41.png"/><Relationship Id="rId7" Type="http://schemas.openxmlformats.org/officeDocument/2006/relationships/image" Target="../media/image45.png"/><Relationship Id="rId8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.png"/><Relationship Id="rId6" Type="http://schemas.openxmlformats.org/officeDocument/2006/relationships/image" Target="../media/image28.png"/><Relationship Id="rId7" Type="http://schemas.openxmlformats.org/officeDocument/2006/relationships/image" Target="../media/image43.png"/><Relationship Id="rId8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7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7"/>
          <p:cNvSpPr txBox="1"/>
          <p:nvPr/>
        </p:nvSpPr>
        <p:spPr>
          <a:xfrm>
            <a:off x="1797781" y="951227"/>
            <a:ext cx="567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ML PROJECT — PHASE 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7"/>
          <p:cNvSpPr txBox="1"/>
          <p:nvPr/>
        </p:nvSpPr>
        <p:spPr>
          <a:xfrm>
            <a:off x="1594125" y="1363475"/>
            <a:ext cx="5955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PREDICTIVE MODELING OF</a:t>
            </a:r>
            <a:b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BATTERY FAILURE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7"/>
          <p:cNvSpPr/>
          <p:nvPr/>
        </p:nvSpPr>
        <p:spPr>
          <a:xfrm>
            <a:off x="4143375" y="2686719"/>
            <a:ext cx="85725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7"/>
          <p:cNvSpPr txBox="1"/>
          <p:nvPr/>
        </p:nvSpPr>
        <p:spPr>
          <a:xfrm>
            <a:off x="2502852" y="2971750"/>
            <a:ext cx="39957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Maryam Yahya Mohammed - 252000104</a:t>
            </a:r>
            <a:endParaRPr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Sama Ayman Ali - 252000098</a:t>
            </a:r>
            <a:endParaRPr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353740"/>
            <a:ext cx="3964781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0594" y="1353740"/>
            <a:ext cx="3964781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8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8"/>
          <p:cNvSpPr txBox="1"/>
          <p:nvPr/>
        </p:nvSpPr>
        <p:spPr>
          <a:xfrm>
            <a:off x="642938" y="1668376"/>
            <a:ext cx="371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Challenge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8"/>
          <p:cNvSpPr txBox="1"/>
          <p:nvPr/>
        </p:nvSpPr>
        <p:spPr>
          <a:xfrm>
            <a:off x="642938" y="2339578"/>
            <a:ext cx="353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Lithium-ion batteries display highly non-linear degradation profiles influenced heavily by internal resistance, temperature fluctuations, and cyclic operations.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8"/>
          <p:cNvSpPr txBox="1"/>
          <p:nvPr/>
        </p:nvSpPr>
        <p:spPr>
          <a:xfrm>
            <a:off x="642938" y="3361134"/>
            <a:ext cx="3536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Static mathematical metrics fall short of real-time diagnostics under active workloads.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8"/>
          <p:cNvSpPr txBox="1"/>
          <p:nvPr/>
        </p:nvSpPr>
        <p:spPr>
          <a:xfrm>
            <a:off x="4964906" y="1668376"/>
            <a:ext cx="371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Phase 2 Technical Objectives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2" name="Google Shape;222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4906" y="2400300"/>
            <a:ext cx="128588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8"/>
          <p:cNvSpPr txBox="1"/>
          <p:nvPr/>
        </p:nvSpPr>
        <p:spPr>
          <a:xfrm>
            <a:off x="5214938" y="2725340"/>
            <a:ext cx="3286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Supervised Regression: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Track precise SOH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8"/>
          <p:cNvSpPr txBox="1"/>
          <p:nvPr/>
        </p:nvSpPr>
        <p:spPr>
          <a:xfrm>
            <a:off x="5214938" y="3082528"/>
            <a:ext cx="32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Supervised Classification: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Map state profiles.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8"/>
          <p:cNvSpPr txBox="1"/>
          <p:nvPr/>
        </p:nvSpPr>
        <p:spPr>
          <a:xfrm>
            <a:off x="5214938" y="3439715"/>
            <a:ext cx="32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Unsupervised Clustering: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Isolate hidden degradation groups.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6" name="Google Shape;226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4906" y="2757488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4906" y="3114675"/>
            <a:ext cx="128588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8"/>
          <p:cNvSpPr txBox="1"/>
          <p:nvPr/>
        </p:nvSpPr>
        <p:spPr>
          <a:xfrm>
            <a:off x="5214938" y="2368153"/>
            <a:ext cx="32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Feature Extraction: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Condense raw signal statistics.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9" name="Google Shape;229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4906" y="3471863"/>
            <a:ext cx="128588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8"/>
          <p:cNvSpPr txBox="1"/>
          <p:nvPr/>
        </p:nvSpPr>
        <p:spPr>
          <a:xfrm>
            <a:off x="571500" y="428625"/>
            <a:ext cx="8551069" cy="407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PROBLEM STATEMENT &amp; PHASE 2 GOALS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8"/>
          <p:cNvSpPr/>
          <p:nvPr/>
        </p:nvSpPr>
        <p:spPr>
          <a:xfrm>
            <a:off x="428625" y="428625"/>
            <a:ext cx="42863" cy="40719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514475"/>
            <a:ext cx="2647987" cy="3350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8062" y="1514475"/>
            <a:ext cx="2647987" cy="3350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7499" y="1514475"/>
            <a:ext cx="2647987" cy="335041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9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9"/>
          <p:cNvSpPr txBox="1"/>
          <p:nvPr/>
        </p:nvSpPr>
        <p:spPr>
          <a:xfrm>
            <a:off x="428625" y="842963"/>
            <a:ext cx="828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original raw sensory sequence was converted to a tabular structural shape by mapping cycle-level parameters across </a:t>
            </a: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2,769 total cycle logs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across 34 operational battery profiles: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9"/>
          <p:cNvSpPr txBox="1"/>
          <p:nvPr/>
        </p:nvSpPr>
        <p:spPr>
          <a:xfrm>
            <a:off x="642938" y="1757363"/>
            <a:ext cx="2330330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Internal Signal Extraction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9"/>
          <p:cNvSpPr txBox="1"/>
          <p:nvPr/>
        </p:nvSpPr>
        <p:spPr>
          <a:xfrm>
            <a:off x="642938" y="2078831"/>
            <a:ext cx="2219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Engineered dynamic parameters tracking cycle degradation metrics: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9"/>
          <p:cNvSpPr txBox="1"/>
          <p:nvPr/>
        </p:nvSpPr>
        <p:spPr>
          <a:xfrm>
            <a:off x="3462374" y="1757363"/>
            <a:ext cx="2330330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Sequence Diagnostics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9"/>
          <p:cNvSpPr txBox="1"/>
          <p:nvPr/>
        </p:nvSpPr>
        <p:spPr>
          <a:xfrm>
            <a:off x="3462374" y="2078831"/>
            <a:ext cx="2219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Extracted multi-cycle operational context trends: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9"/>
          <p:cNvSpPr txBox="1"/>
          <p:nvPr/>
        </p:nvSpPr>
        <p:spPr>
          <a:xfrm>
            <a:off x="6281812" y="1757363"/>
            <a:ext cx="2330330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Quality Cleanup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9"/>
          <p:cNvSpPr txBox="1"/>
          <p:nvPr/>
        </p:nvSpPr>
        <p:spPr>
          <a:xfrm>
            <a:off x="6281812" y="2078831"/>
            <a:ext cx="2219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refinement steps applied before down-streaming: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9"/>
          <p:cNvSpPr txBox="1"/>
          <p:nvPr/>
        </p:nvSpPr>
        <p:spPr>
          <a:xfrm>
            <a:off x="892969" y="2664619"/>
            <a:ext cx="19693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volt_drop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(First vs last V)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9"/>
          <p:cNvSpPr txBox="1"/>
          <p:nvPr/>
        </p:nvSpPr>
        <p:spPr>
          <a:xfrm>
            <a:off x="892969" y="3021806"/>
            <a:ext cx="19693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volt_slope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(V drop rate/sec)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9"/>
          <p:cNvSpPr txBox="1"/>
          <p:nvPr/>
        </p:nvSpPr>
        <p:spPr>
          <a:xfrm>
            <a:off x="892969" y="3378994"/>
            <a:ext cx="19693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temp_rise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(Thermal delta)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9"/>
          <p:cNvSpPr txBox="1"/>
          <p:nvPr/>
        </p:nvSpPr>
        <p:spPr>
          <a:xfrm>
            <a:off x="3712406" y="2664619"/>
            <a:ext cx="19693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duration_change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(Discharge delta)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9"/>
          <p:cNvSpPr txBox="1"/>
          <p:nvPr/>
        </p:nvSpPr>
        <p:spPr>
          <a:xfrm>
            <a:off x="3712406" y="3250406"/>
            <a:ext cx="19693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duration_smooth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(Rolling mean)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3712406" y="3836194"/>
            <a:ext cx="196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volt_cv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(Coefficient of </a:t>
            </a:r>
            <a:r>
              <a:rPr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Variation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9"/>
          <p:cNvSpPr txBox="1"/>
          <p:nvPr/>
        </p:nvSpPr>
        <p:spPr>
          <a:xfrm>
            <a:off x="6531843" y="2664619"/>
            <a:ext cx="19693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Dropped empty features (Re, Rct &gt; 50% NaN)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9"/>
          <p:cNvSpPr txBox="1"/>
          <p:nvPr/>
        </p:nvSpPr>
        <p:spPr>
          <a:xfrm>
            <a:off x="6531843" y="3250406"/>
            <a:ext cx="19693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Dropped zero-variance constant markers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9"/>
          <p:cNvSpPr txBox="1"/>
          <p:nvPr/>
        </p:nvSpPr>
        <p:spPr>
          <a:xfrm>
            <a:off x="6531843" y="3836194"/>
            <a:ext cx="196933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Dropped near-duplicate multicollinear metrics (&gt;95% corr)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7" name="Google Shape;257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8" y="2696765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38" y="3053953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938" y="3411140"/>
            <a:ext cx="92869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62374" y="2696765"/>
            <a:ext cx="164306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3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62374" y="3282553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3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62374" y="3868340"/>
            <a:ext cx="107156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81812" y="2696765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3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81812" y="3282553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81812" y="3868340"/>
            <a:ext cx="142875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9"/>
          <p:cNvSpPr txBox="1"/>
          <p:nvPr/>
        </p:nvSpPr>
        <p:spPr>
          <a:xfrm>
            <a:off x="571500" y="221456"/>
            <a:ext cx="8551069" cy="407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FEATURE ENGINEERING &amp; PROCESSING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9"/>
          <p:cNvSpPr/>
          <p:nvPr/>
        </p:nvSpPr>
        <p:spPr>
          <a:xfrm>
            <a:off x="428625" y="221456"/>
            <a:ext cx="42863" cy="40719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0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0"/>
          <p:cNvSpPr txBox="1"/>
          <p:nvPr/>
        </p:nvSpPr>
        <p:spPr>
          <a:xfrm>
            <a:off x="428625" y="1568053"/>
            <a:ext cx="39648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</a:t>
            </a:r>
            <a:r>
              <a:rPr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multicollinearity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across remaining summary signals required global orthogonal mapping via Principal Component Analysis (PCA).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0"/>
          <p:cNvSpPr txBox="1"/>
          <p:nvPr/>
        </p:nvSpPr>
        <p:spPr>
          <a:xfrm>
            <a:off x="678656" y="2368153"/>
            <a:ext cx="3714750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Standardization: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Applied StandardScaler to eliminate feature variance scale mismatching.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0"/>
          <p:cNvSpPr txBox="1"/>
          <p:nvPr/>
        </p:nvSpPr>
        <p:spPr>
          <a:xfrm>
            <a:off x="678656" y="2968228"/>
            <a:ext cx="371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Target Dimension Space: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Reduced the complex feature array into 16 optimal principal orthogonal components.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0"/>
          <p:cNvSpPr txBox="1"/>
          <p:nvPr/>
        </p:nvSpPr>
        <p:spPr>
          <a:xfrm>
            <a:off x="678656" y="3554015"/>
            <a:ext cx="371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Protection: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Retained structural core properties while dramatically decreasing computing pipeline strain.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8" name="Google Shape;27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400300"/>
            <a:ext cx="164306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000375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3586163"/>
            <a:ext cx="164306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0"/>
          <p:cNvSpPr txBox="1"/>
          <p:nvPr/>
        </p:nvSpPr>
        <p:spPr>
          <a:xfrm>
            <a:off x="571500" y="428625"/>
            <a:ext cx="8551069" cy="407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DIMENSIONALITY REDUCTION VIA PCA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0"/>
          <p:cNvSpPr/>
          <p:nvPr/>
        </p:nvSpPr>
        <p:spPr>
          <a:xfrm>
            <a:off x="428625" y="428625"/>
            <a:ext cx="42863" cy="40719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01000" y="1247425"/>
            <a:ext cx="4182851" cy="293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1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1"/>
          <p:cNvSpPr txBox="1"/>
          <p:nvPr/>
        </p:nvSpPr>
        <p:spPr>
          <a:xfrm>
            <a:off x="428625" y="1182290"/>
            <a:ext cx="3964781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Clustering analysis explored the intrinsic structure of the battery feature space without utilizing labels, dropping the health_class target dimension variable entirely.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1"/>
          <p:cNvSpPr txBox="1"/>
          <p:nvPr/>
        </p:nvSpPr>
        <p:spPr>
          <a:xfrm>
            <a:off x="428625" y="1989534"/>
            <a:ext cx="416302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K-Means Architecture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1"/>
          <p:cNvSpPr txBox="1"/>
          <p:nvPr/>
        </p:nvSpPr>
        <p:spPr>
          <a:xfrm>
            <a:off x="678656" y="2311003"/>
            <a:ext cx="3714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Cluster Optimization: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Evaluated across K=2 to K=</a:t>
            </a:r>
            <a:r>
              <a:rPr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7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clusters using Silhouette Analysis, Davies-Bouldin, and Calinski-Harabasz metrics.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1"/>
          <p:cNvSpPr txBox="1"/>
          <p:nvPr/>
        </p:nvSpPr>
        <p:spPr>
          <a:xfrm>
            <a:off x="678656" y="3125390"/>
            <a:ext cx="3714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Structural Alignment: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Optimal layout converged perfectly at K=2, which aligns directly with the healthy vs. degraded status observed in classification.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1"/>
          <p:cNvSpPr txBox="1"/>
          <p:nvPr/>
        </p:nvSpPr>
        <p:spPr>
          <a:xfrm>
            <a:off x="678656" y="3939778"/>
            <a:ext cx="371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Algorithmic Validation: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Custom K-Means matched Sklearn cluster assignments perfectly.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5" name="Google Shape;29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343150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157538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3971925"/>
            <a:ext cx="128588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1"/>
          <p:cNvSpPr txBox="1"/>
          <p:nvPr/>
        </p:nvSpPr>
        <p:spPr>
          <a:xfrm>
            <a:off x="571500" y="428625"/>
            <a:ext cx="8551069" cy="407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UNSUPERVISED CLUSTERING EXPLORATION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1"/>
          <p:cNvSpPr/>
          <p:nvPr/>
        </p:nvSpPr>
        <p:spPr>
          <a:xfrm>
            <a:off x="428625" y="428625"/>
            <a:ext cx="42863" cy="40719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93300" y="2913000"/>
            <a:ext cx="3429399" cy="20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33500" y="739637"/>
            <a:ext cx="3255475" cy="209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496615"/>
            <a:ext cx="3964781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2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9" name="Google Shape;309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9" y="1503759"/>
            <a:ext cx="3950494" cy="2700337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2"/>
          <p:cNvSpPr txBox="1"/>
          <p:nvPr/>
        </p:nvSpPr>
        <p:spPr>
          <a:xfrm>
            <a:off x="4750594" y="1303734"/>
            <a:ext cx="396478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overcome the limitations of distance-based clustering (which assumes spherical clusters), density-based </a:t>
            </a: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HDBSCAN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was implemented.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2"/>
          <p:cNvSpPr txBox="1"/>
          <p:nvPr/>
        </p:nvSpPr>
        <p:spPr>
          <a:xfrm>
            <a:off x="4750594" y="2096690"/>
            <a:ext cx="416302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Discovery and Insights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2"/>
          <p:cNvSpPr txBox="1"/>
          <p:nvPr/>
        </p:nvSpPr>
        <p:spPr>
          <a:xfrm>
            <a:off x="5000625" y="2418159"/>
            <a:ext cx="371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Sub-Cluster Isolation: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HDBSCAN identified 16 dense micro-clusters embedded within the global dataset topology.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2"/>
          <p:cNvSpPr txBox="1"/>
          <p:nvPr/>
        </p:nvSpPr>
        <p:spPr>
          <a:xfrm>
            <a:off x="5000625" y="3003947"/>
            <a:ext cx="3714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Anomalous Noise Tracking: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Isolated 211 outlier cycles (7.62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% 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of the dataset) as structural noise.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2"/>
          <p:cNvSpPr txBox="1"/>
          <p:nvPr/>
        </p:nvSpPr>
        <p:spPr>
          <a:xfrm>
            <a:off x="5000625" y="3589734"/>
            <a:ext cx="3714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Phenom Interpretation: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These outliers represent unstable transitional states during capacity recovery cycles (battery rest periods causing temporary voltage spikes).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571500" y="428625"/>
            <a:ext cx="8551069" cy="407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DENSITY-BASED CLUSTERING VIA HDBSCAN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2"/>
          <p:cNvSpPr/>
          <p:nvPr/>
        </p:nvSpPr>
        <p:spPr>
          <a:xfrm>
            <a:off x="428625" y="428625"/>
            <a:ext cx="42863" cy="40719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1425" y="991100"/>
            <a:ext cx="4392850" cy="35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510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306050"/>
            <a:ext cx="3964774" cy="129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813072"/>
            <a:ext cx="3964774" cy="22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3"/>
          <p:cNvSpPr txBox="1"/>
          <p:nvPr/>
        </p:nvSpPr>
        <p:spPr>
          <a:xfrm>
            <a:off x="428625" y="808031"/>
            <a:ext cx="8286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problem was framed as a binary classification task to map cell lifecycle health states: </a:t>
            </a: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Healthy (1,476 cycles)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vs. </a:t>
            </a: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Degraded (1,293 cycles)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3"/>
          <p:cNvSpPr txBox="1"/>
          <p:nvPr/>
        </p:nvSpPr>
        <p:spPr>
          <a:xfrm>
            <a:off x="767875" y="1379913"/>
            <a:ext cx="371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Support Vector Machine (SVM)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3"/>
          <p:cNvSpPr txBox="1"/>
          <p:nvPr/>
        </p:nvSpPr>
        <p:spPr>
          <a:xfrm>
            <a:off x="571500" y="1663156"/>
            <a:ext cx="3536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Extracted PCA component configurations were used to test structural separation bounds: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964631" y="2944175"/>
            <a:ext cx="371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Artificial Neural Network (ANN)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3"/>
          <p:cNvSpPr txBox="1"/>
          <p:nvPr/>
        </p:nvSpPr>
        <p:spPr>
          <a:xfrm>
            <a:off x="642931" y="3257544"/>
            <a:ext cx="3536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Constructed a Multi-Layer Perceptron (MLP) mapping non-linear boundary margins: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31" name="Google Shape;331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8" y="1343738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3"/>
          <p:cNvSpPr txBox="1"/>
          <p:nvPr/>
        </p:nvSpPr>
        <p:spPr>
          <a:xfrm>
            <a:off x="696444" y="2165475"/>
            <a:ext cx="32862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Sklearn SV</a:t>
            </a:r>
            <a:r>
              <a:rPr b="1"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GridSearch-tuned model optimizing cost parameter constraints (C=100).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33" name="Google Shape;333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6" y="2907988"/>
            <a:ext cx="32146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3"/>
          <p:cNvSpPr txBox="1"/>
          <p:nvPr/>
        </p:nvSpPr>
        <p:spPr>
          <a:xfrm>
            <a:off x="892963" y="3790013"/>
            <a:ext cx="32862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Topology structure: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Optimized via GroupKFold cross-validation across localized cell batch logs.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3"/>
          <p:cNvSpPr txBox="1"/>
          <p:nvPr/>
        </p:nvSpPr>
        <p:spPr>
          <a:xfrm>
            <a:off x="892963" y="4302738"/>
            <a:ext cx="3286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Regularization: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Managed via early stopping mechanisms and L2 penalization parameters (Alpha=0.1).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571500" y="342900"/>
            <a:ext cx="85512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SUPERVISED CLASSIFICATION ARCHITECTURE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3"/>
          <p:cNvSpPr/>
          <p:nvPr/>
        </p:nvSpPr>
        <p:spPr>
          <a:xfrm>
            <a:off x="428625" y="342900"/>
            <a:ext cx="42900" cy="407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8" name="Google Shape;338;p43"/>
          <p:cNvGraphicFramePr/>
          <p:nvPr/>
        </p:nvGraphicFramePr>
        <p:xfrm>
          <a:off x="4480963" y="352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{11DED83F-D759-436B-B505-F42DF4E00127}</a:tableStyleId>
              </a:tblPr>
              <a:tblGrid>
                <a:gridCol w="1328200"/>
                <a:gridCol w="1627675"/>
                <a:gridCol w="1223975"/>
              </a:tblGrid>
              <a:tr h="337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highlight>
                            <a:srgbClr val="EAD1DC"/>
                          </a:highlight>
                        </a:rPr>
                        <a:t>Category</a:t>
                      </a:r>
                      <a:endParaRPr b="1" sz="1100">
                        <a:solidFill>
                          <a:schemeClr val="dk1"/>
                        </a:solidFill>
                        <a:highlight>
                          <a:srgbClr val="EAD1DC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highlight>
                            <a:srgbClr val="EAD1DC"/>
                          </a:highlight>
                        </a:rPr>
                        <a:t>Hyperparameter</a:t>
                      </a:r>
                      <a:endParaRPr b="1" sz="1100">
                        <a:solidFill>
                          <a:schemeClr val="dk1"/>
                        </a:solidFill>
                        <a:highlight>
                          <a:srgbClr val="EAD1DC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highlight>
                            <a:srgbClr val="EAD1DC"/>
                          </a:highlight>
                        </a:rPr>
                        <a:t>Values</a:t>
                      </a:r>
                      <a:endParaRPr b="1" sz="1100">
                        <a:solidFill>
                          <a:schemeClr val="dk1"/>
                        </a:solidFill>
                        <a:highlight>
                          <a:srgbClr val="EAD1DC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</a:tr>
              <a:tr h="33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Architecture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hidden_layer_sizes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(5,),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(10,)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Regularization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alpha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0.1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1, 10,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Reproducibility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random_state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42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9" name="Google Shape;339;p43"/>
          <p:cNvSpPr txBox="1"/>
          <p:nvPr/>
        </p:nvSpPr>
        <p:spPr>
          <a:xfrm>
            <a:off x="4480975" y="3140888"/>
            <a:ext cx="371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Artificial Neural Network </a:t>
            </a:r>
            <a:r>
              <a:rPr b="1" lang="en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hyperparameter :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340" name="Google Shape;340;p43"/>
          <p:cNvGraphicFramePr/>
          <p:nvPr/>
        </p:nvGraphicFramePr>
        <p:xfrm>
          <a:off x="4571988" y="166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{11DED83F-D759-436B-B505-F42DF4E00127}</a:tableStyleId>
              </a:tblPr>
              <a:tblGrid>
                <a:gridCol w="1328200"/>
                <a:gridCol w="1627675"/>
                <a:gridCol w="1223975"/>
              </a:tblGrid>
              <a:tr h="337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highlight>
                            <a:srgbClr val="EAD1DC"/>
                          </a:highlight>
                        </a:rPr>
                        <a:t>Category</a:t>
                      </a:r>
                      <a:endParaRPr b="1" sz="1100">
                        <a:solidFill>
                          <a:schemeClr val="dk1"/>
                        </a:solidFill>
                        <a:highlight>
                          <a:srgbClr val="EAD1DC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highlight>
                            <a:srgbClr val="EAD1DC"/>
                          </a:highlight>
                        </a:rPr>
                        <a:t>Hyperparameter</a:t>
                      </a:r>
                      <a:endParaRPr b="1" sz="1100">
                        <a:solidFill>
                          <a:schemeClr val="dk1"/>
                        </a:solidFill>
                        <a:highlight>
                          <a:srgbClr val="EAD1DC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highlight>
                            <a:srgbClr val="EAD1DC"/>
                          </a:highlight>
                        </a:rPr>
                        <a:t>Values</a:t>
                      </a:r>
                      <a:endParaRPr b="1" sz="1100">
                        <a:solidFill>
                          <a:schemeClr val="dk1"/>
                        </a:solidFill>
                        <a:highlight>
                          <a:srgbClr val="EAD1DC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AD1DC"/>
                    </a:solidFill>
                  </a:tcPr>
                </a:tc>
              </a:tr>
              <a:tr h="36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Regularization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alpha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0.1, 1, 10,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100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Reproducibility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random_state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42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1" name="Google Shape;341;p43"/>
          <p:cNvSpPr txBox="1"/>
          <p:nvPr/>
        </p:nvSpPr>
        <p:spPr>
          <a:xfrm>
            <a:off x="4572000" y="1195450"/>
            <a:ext cx="371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SVM </a:t>
            </a:r>
            <a:r>
              <a:rPr b="1" lang="en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hyperparameter :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219" y="3396853"/>
            <a:ext cx="1828800" cy="992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0320" y="3396853"/>
            <a:ext cx="1828800" cy="992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4419" y="3396853"/>
            <a:ext cx="2243138" cy="99298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4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0" name="Google Shape;350;p44"/>
          <p:cNvGraphicFramePr/>
          <p:nvPr/>
        </p:nvGraphicFramePr>
        <p:xfrm>
          <a:off x="1011900" y="13403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{CFE164B6-8723-4F30-A4D5-ECD01841799F}</a:tableStyleId>
              </a:tblPr>
              <a:tblGrid>
                <a:gridCol w="2341125"/>
                <a:gridCol w="1319350"/>
                <a:gridCol w="1536575"/>
                <a:gridCol w="1271125"/>
              </a:tblGrid>
              <a:tr h="466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Classifier Architecture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 Accuracy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CV / Val Accuracy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Accuracy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66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Sklearn SV</a:t>
                      </a: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 </a:t>
                      </a:r>
                      <a:r>
                        <a:rPr b="0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(Tuned C=100)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94.48%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95.43%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93.</a:t>
                      </a:r>
                      <a:r>
                        <a:rPr b="0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27</a:t>
                      </a:r>
                      <a:r>
                        <a:rPr b="0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6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1E40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Sklearn ANN (MLP Classifier)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1E40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95.66%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1E40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91.56%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1E40A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93.56%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51" name="Google Shape;351;p44"/>
          <p:cNvSpPr/>
          <p:nvPr/>
        </p:nvSpPr>
        <p:spPr>
          <a:xfrm>
            <a:off x="428625" y="3243263"/>
            <a:ext cx="23412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4"/>
          <p:cNvSpPr/>
          <p:nvPr/>
        </p:nvSpPr>
        <p:spPr>
          <a:xfrm>
            <a:off x="2769766" y="3243263"/>
            <a:ext cx="1319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4"/>
          <p:cNvSpPr/>
          <p:nvPr/>
        </p:nvSpPr>
        <p:spPr>
          <a:xfrm>
            <a:off x="4089127" y="3243263"/>
            <a:ext cx="15366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4"/>
          <p:cNvSpPr/>
          <p:nvPr/>
        </p:nvSpPr>
        <p:spPr>
          <a:xfrm>
            <a:off x="5625703" y="3243263"/>
            <a:ext cx="1271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4"/>
          <p:cNvSpPr/>
          <p:nvPr/>
        </p:nvSpPr>
        <p:spPr>
          <a:xfrm>
            <a:off x="6896844" y="3243263"/>
            <a:ext cx="18186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4"/>
          <p:cNvSpPr txBox="1"/>
          <p:nvPr/>
        </p:nvSpPr>
        <p:spPr>
          <a:xfrm>
            <a:off x="911945" y="3582590"/>
            <a:ext cx="16575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93.56%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4"/>
          <p:cNvSpPr txBox="1"/>
          <p:nvPr/>
        </p:nvSpPr>
        <p:spPr>
          <a:xfrm>
            <a:off x="911945" y="4068365"/>
            <a:ext cx="16575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ANN TEST ACCURACY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4"/>
          <p:cNvSpPr txBox="1"/>
          <p:nvPr/>
        </p:nvSpPr>
        <p:spPr>
          <a:xfrm>
            <a:off x="3536045" y="3582590"/>
            <a:ext cx="16575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93.27%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4"/>
          <p:cNvSpPr txBox="1"/>
          <p:nvPr/>
        </p:nvSpPr>
        <p:spPr>
          <a:xfrm>
            <a:off x="3536045" y="4068365"/>
            <a:ext cx="16575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SVM TEST ACCURACY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4"/>
          <p:cNvSpPr txBox="1"/>
          <p:nvPr/>
        </p:nvSpPr>
        <p:spPr>
          <a:xfrm>
            <a:off x="6367313" y="3582590"/>
            <a:ext cx="165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1.1</a:t>
            </a:r>
            <a:r>
              <a:rPr b="1" i="0" lang="en" sz="27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b="1" i="0" lang="en" sz="27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4"/>
          <p:cNvSpPr txBox="1"/>
          <p:nvPr/>
        </p:nvSpPr>
        <p:spPr>
          <a:xfrm>
            <a:off x="6367313" y="4068365"/>
            <a:ext cx="16575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CLASS BALANCE RATIO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4"/>
          <p:cNvSpPr txBox="1"/>
          <p:nvPr/>
        </p:nvSpPr>
        <p:spPr>
          <a:xfrm>
            <a:off x="571500" y="428625"/>
            <a:ext cx="85512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CLASSIFICATION RESULTS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/>
          <p:nvPr/>
        </p:nvSpPr>
        <p:spPr>
          <a:xfrm>
            <a:off x="428625" y="428625"/>
            <a:ext cx="42900" cy="407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14" y="1089401"/>
            <a:ext cx="4498950" cy="3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7014" y="1089401"/>
            <a:ext cx="3861400" cy="32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5"/>
          <p:cNvSpPr txBox="1"/>
          <p:nvPr/>
        </p:nvSpPr>
        <p:spPr>
          <a:xfrm>
            <a:off x="571500" y="342900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CLASSIFICATION </a:t>
            </a:r>
            <a:r>
              <a:rPr b="1" lang="en" sz="21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CONFUSION MATRIX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428625" y="342900"/>
            <a:ext cx="42900" cy="407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6" name="Google Shape;37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24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6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6"/>
          <p:cNvSpPr txBox="1"/>
          <p:nvPr/>
        </p:nvSpPr>
        <p:spPr>
          <a:xfrm>
            <a:off x="428625" y="1471613"/>
            <a:ext cx="41631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Overfitting Diagnostics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6"/>
          <p:cNvSpPr txBox="1"/>
          <p:nvPr/>
        </p:nvSpPr>
        <p:spPr>
          <a:xfrm>
            <a:off x="678656" y="1793081"/>
            <a:ext cx="3714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Learning Curve (SVM):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Train and CV accuracy converge as data grows — low variance, no overfitting.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6"/>
          <p:cNvSpPr txBox="1"/>
          <p:nvPr/>
        </p:nvSpPr>
        <p:spPr>
          <a:xfrm>
            <a:off x="678656" y="2607469"/>
            <a:ext cx="37149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 Complexity (ANN):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Accuracy flattens quickly as hidden units grow — larger nets add variance, not accuracy, so we kept the smallest strong network (5 units).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1" name="Google Shape;381;p46"/>
          <p:cNvSpPr txBox="1"/>
          <p:nvPr/>
        </p:nvSpPr>
        <p:spPr>
          <a:xfrm>
            <a:off x="678656" y="3421856"/>
            <a:ext cx="3714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Bias-Variance Balance: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Small train-validation gap for both models — balanced fit.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2" name="Google Shape;38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825228"/>
            <a:ext cx="107156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639615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3454003"/>
            <a:ext cx="142875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6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CLASSIFICATION: BIAS-VARIANCE CHECK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6"/>
          <p:cNvSpPr/>
          <p:nvPr/>
        </p:nvSpPr>
        <p:spPr>
          <a:xfrm>
            <a:off x="428625" y="428625"/>
            <a:ext cx="42900" cy="407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60550" y="2716875"/>
            <a:ext cx="328612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43548" y="837625"/>
            <a:ext cx="2699551" cy="179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3" name="Google Shape;39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53" y="-10353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785938"/>
            <a:ext cx="405765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1785938"/>
            <a:ext cx="405765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7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7"/>
          <p:cNvSpPr txBox="1"/>
          <p:nvPr/>
        </p:nvSpPr>
        <p:spPr>
          <a:xfrm>
            <a:off x="428625" y="1150144"/>
            <a:ext cx="828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Models were trained to forecast </a:t>
            </a:r>
            <a:r>
              <a:rPr b="1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State of Health (SOH)</a:t>
            </a:r>
            <a:r>
              <a:rPr lang="en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7"/>
          <p:cNvSpPr txBox="1"/>
          <p:nvPr/>
        </p:nvSpPr>
        <p:spPr>
          <a:xfrm>
            <a:off x="642938" y="2450306"/>
            <a:ext cx="38106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Validation Control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7"/>
          <p:cNvSpPr txBox="1"/>
          <p:nvPr/>
        </p:nvSpPr>
        <p:spPr>
          <a:xfrm>
            <a:off x="642938" y="2771775"/>
            <a:ext cx="3629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Char char="●"/>
            </a:pPr>
            <a:r>
              <a:rPr b="0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split used to test generalization: </a:t>
            </a:r>
            <a:r>
              <a:rPr b="1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70% Train / 15% Validation / 15% Test</a:t>
            </a:r>
            <a:r>
              <a:rPr b="0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20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Cross Validation: 5-Fold GroupKFold (battery-aware)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0" name="Google Shape;400;p47"/>
          <p:cNvSpPr txBox="1"/>
          <p:nvPr/>
        </p:nvSpPr>
        <p:spPr>
          <a:xfrm>
            <a:off x="4872038" y="2450306"/>
            <a:ext cx="38106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Explored Model Array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01" name="Google Shape;401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064544"/>
            <a:ext cx="32146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2038" y="2064544"/>
            <a:ext cx="292894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7"/>
          <p:cNvSpPr txBox="1"/>
          <p:nvPr/>
        </p:nvSpPr>
        <p:spPr>
          <a:xfrm>
            <a:off x="5122069" y="2814638"/>
            <a:ext cx="337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Ridge Regression</a:t>
            </a:r>
            <a:r>
              <a:rPr b="1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L2-regularized; alpha tuned via GridSearchCV (best α = 100). Balanced — no overfitting.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" name="Google Shape;404;p47"/>
          <p:cNvSpPr txBox="1"/>
          <p:nvPr/>
        </p:nvSpPr>
        <p:spPr>
          <a:xfrm>
            <a:off x="5122119" y="3719000"/>
            <a:ext cx="3378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Polynomial Regression</a:t>
            </a:r>
            <a:r>
              <a:rPr b="1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en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PCA(5) → PolyFeatures + Ridge; degree 1–2 tuned. Low variance, slight bias.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405" name="Google Shape;405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72038" y="2846784"/>
            <a:ext cx="178594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72088" y="3751147"/>
            <a:ext cx="164306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7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" sz="21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REGRESSION IMPLEMENTATION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7"/>
          <p:cNvSpPr/>
          <p:nvPr/>
        </p:nvSpPr>
        <p:spPr>
          <a:xfrm>
            <a:off x="428625" y="428625"/>
            <a:ext cx="42900" cy="407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3" name="Google Shape;41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8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5" name="Google Shape;415;p48"/>
          <p:cNvGraphicFramePr/>
          <p:nvPr/>
        </p:nvGraphicFramePr>
        <p:xfrm>
          <a:off x="428650" y="15945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{CFE164B6-8723-4F30-A4D5-ECD01841799F}</a:tableStyleId>
              </a:tblPr>
              <a:tblGrid>
                <a:gridCol w="3596425"/>
                <a:gridCol w="1121550"/>
                <a:gridCol w="1010275"/>
                <a:gridCol w="1065850"/>
                <a:gridCol w="1492575"/>
              </a:tblGrid>
              <a:tr h="4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Configuration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 RMSE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 RMSE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RMSE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R² Score (Test)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Ridge Regression</a:t>
                      </a:r>
                      <a:endParaRPr sz="1100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0.0388</a:t>
                      </a:r>
                      <a:endParaRPr sz="1100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0.0644</a:t>
                      </a:r>
                      <a:endParaRPr sz="1100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0.0524</a:t>
                      </a:r>
                      <a:endParaRPr sz="1100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0.8811</a:t>
                      </a:r>
                      <a:endParaRPr sz="1100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Polynomial Regression</a:t>
                      </a:r>
                      <a:endParaRPr sz="1100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0.0868</a:t>
                      </a:r>
                      <a:endParaRPr sz="1100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0.0961</a:t>
                      </a:r>
                      <a:endParaRPr sz="1100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0.0757</a:t>
                      </a:r>
                      <a:endParaRPr sz="1100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0.7516</a:t>
                      </a:r>
                      <a:endParaRPr sz="1100">
                        <a:solidFill>
                          <a:srgbClr val="47556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6" name="Google Shape;416;p48"/>
          <p:cNvSpPr/>
          <p:nvPr/>
        </p:nvSpPr>
        <p:spPr>
          <a:xfrm>
            <a:off x="428625" y="1594507"/>
            <a:ext cx="3596400" cy="14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8"/>
          <p:cNvSpPr/>
          <p:nvPr/>
        </p:nvSpPr>
        <p:spPr>
          <a:xfrm>
            <a:off x="4025057" y="1594507"/>
            <a:ext cx="1121700" cy="14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8"/>
          <p:cNvSpPr/>
          <p:nvPr/>
        </p:nvSpPr>
        <p:spPr>
          <a:xfrm>
            <a:off x="5146625" y="1594507"/>
            <a:ext cx="1010400" cy="14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8"/>
          <p:cNvSpPr/>
          <p:nvPr/>
        </p:nvSpPr>
        <p:spPr>
          <a:xfrm>
            <a:off x="6156908" y="1594507"/>
            <a:ext cx="1065900" cy="14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8"/>
          <p:cNvSpPr/>
          <p:nvPr/>
        </p:nvSpPr>
        <p:spPr>
          <a:xfrm>
            <a:off x="7222777" y="1594507"/>
            <a:ext cx="1492500" cy="14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8"/>
          <p:cNvSpPr/>
          <p:nvPr/>
        </p:nvSpPr>
        <p:spPr>
          <a:xfrm>
            <a:off x="428625" y="2069567"/>
            <a:ext cx="3596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8"/>
          <p:cNvSpPr/>
          <p:nvPr/>
        </p:nvSpPr>
        <p:spPr>
          <a:xfrm>
            <a:off x="4025057" y="2069567"/>
            <a:ext cx="1121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8"/>
          <p:cNvSpPr/>
          <p:nvPr/>
        </p:nvSpPr>
        <p:spPr>
          <a:xfrm>
            <a:off x="5146625" y="2069567"/>
            <a:ext cx="1010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8"/>
          <p:cNvSpPr/>
          <p:nvPr/>
        </p:nvSpPr>
        <p:spPr>
          <a:xfrm>
            <a:off x="6156908" y="2069567"/>
            <a:ext cx="1065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8"/>
          <p:cNvSpPr/>
          <p:nvPr/>
        </p:nvSpPr>
        <p:spPr>
          <a:xfrm>
            <a:off x="7222777" y="2069567"/>
            <a:ext cx="1492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8"/>
          <p:cNvSpPr/>
          <p:nvPr/>
        </p:nvSpPr>
        <p:spPr>
          <a:xfrm>
            <a:off x="428625" y="2533910"/>
            <a:ext cx="3596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8"/>
          <p:cNvSpPr/>
          <p:nvPr/>
        </p:nvSpPr>
        <p:spPr>
          <a:xfrm>
            <a:off x="4025057" y="2533910"/>
            <a:ext cx="1121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8"/>
          <p:cNvSpPr/>
          <p:nvPr/>
        </p:nvSpPr>
        <p:spPr>
          <a:xfrm>
            <a:off x="5146625" y="2533910"/>
            <a:ext cx="1010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8"/>
          <p:cNvSpPr/>
          <p:nvPr/>
        </p:nvSpPr>
        <p:spPr>
          <a:xfrm>
            <a:off x="6156908" y="2533910"/>
            <a:ext cx="1065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8"/>
          <p:cNvSpPr/>
          <p:nvPr/>
        </p:nvSpPr>
        <p:spPr>
          <a:xfrm>
            <a:off x="7222777" y="2533910"/>
            <a:ext cx="1492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8"/>
          <p:cNvSpPr/>
          <p:nvPr/>
        </p:nvSpPr>
        <p:spPr>
          <a:xfrm>
            <a:off x="428625" y="2998254"/>
            <a:ext cx="3596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8"/>
          <p:cNvSpPr/>
          <p:nvPr/>
        </p:nvSpPr>
        <p:spPr>
          <a:xfrm>
            <a:off x="4025057" y="2998254"/>
            <a:ext cx="1121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8"/>
          <p:cNvSpPr/>
          <p:nvPr/>
        </p:nvSpPr>
        <p:spPr>
          <a:xfrm>
            <a:off x="5146625" y="2998254"/>
            <a:ext cx="1010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8"/>
          <p:cNvSpPr/>
          <p:nvPr/>
        </p:nvSpPr>
        <p:spPr>
          <a:xfrm>
            <a:off x="6156908" y="2998254"/>
            <a:ext cx="1065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8"/>
          <p:cNvSpPr/>
          <p:nvPr/>
        </p:nvSpPr>
        <p:spPr>
          <a:xfrm>
            <a:off x="7222777" y="2998254"/>
            <a:ext cx="1492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8"/>
          <p:cNvSpPr/>
          <p:nvPr/>
        </p:nvSpPr>
        <p:spPr>
          <a:xfrm>
            <a:off x="428625" y="3462598"/>
            <a:ext cx="3596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8"/>
          <p:cNvSpPr/>
          <p:nvPr/>
        </p:nvSpPr>
        <p:spPr>
          <a:xfrm>
            <a:off x="4025057" y="3462598"/>
            <a:ext cx="1121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8"/>
          <p:cNvSpPr/>
          <p:nvPr/>
        </p:nvSpPr>
        <p:spPr>
          <a:xfrm>
            <a:off x="5146625" y="3462598"/>
            <a:ext cx="1010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8"/>
          <p:cNvSpPr/>
          <p:nvPr/>
        </p:nvSpPr>
        <p:spPr>
          <a:xfrm>
            <a:off x="6156908" y="3462598"/>
            <a:ext cx="1065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8"/>
          <p:cNvSpPr/>
          <p:nvPr/>
        </p:nvSpPr>
        <p:spPr>
          <a:xfrm>
            <a:off x="7222777" y="3462598"/>
            <a:ext cx="1492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8"/>
          <p:cNvSpPr/>
          <p:nvPr/>
        </p:nvSpPr>
        <p:spPr>
          <a:xfrm>
            <a:off x="428625" y="3926942"/>
            <a:ext cx="3596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8"/>
          <p:cNvSpPr/>
          <p:nvPr/>
        </p:nvSpPr>
        <p:spPr>
          <a:xfrm>
            <a:off x="4025057" y="3926942"/>
            <a:ext cx="1121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8"/>
          <p:cNvSpPr/>
          <p:nvPr/>
        </p:nvSpPr>
        <p:spPr>
          <a:xfrm>
            <a:off x="5146625" y="3926942"/>
            <a:ext cx="1010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6156908" y="3926942"/>
            <a:ext cx="1065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8"/>
          <p:cNvSpPr/>
          <p:nvPr/>
        </p:nvSpPr>
        <p:spPr>
          <a:xfrm>
            <a:off x="7222777" y="3926942"/>
            <a:ext cx="1492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8"/>
          <p:cNvSpPr txBox="1"/>
          <p:nvPr/>
        </p:nvSpPr>
        <p:spPr>
          <a:xfrm>
            <a:off x="571500" y="428625"/>
            <a:ext cx="85512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REGRESSION MODEL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8"/>
          <p:cNvSpPr/>
          <p:nvPr/>
        </p:nvSpPr>
        <p:spPr>
          <a:xfrm>
            <a:off x="428625" y="428625"/>
            <a:ext cx="42900" cy="407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2" name="Google Shape;45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9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9"/>
          <p:cNvSpPr txBox="1"/>
          <p:nvPr/>
        </p:nvSpPr>
        <p:spPr>
          <a:xfrm>
            <a:off x="428625" y="1471613"/>
            <a:ext cx="41631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Overfitting Diagnostics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9"/>
          <p:cNvSpPr txBox="1"/>
          <p:nvPr/>
        </p:nvSpPr>
        <p:spPr>
          <a:xfrm>
            <a:off x="678656" y="1793081"/>
            <a:ext cx="3714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Bias-Variance Tradeoff: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 RMSE stays flat through degree 3, then rises sharply at degrees 4–5.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" name="Google Shape;456;p49"/>
          <p:cNvSpPr txBox="1"/>
          <p:nvPr/>
        </p:nvSpPr>
        <p:spPr>
          <a:xfrm>
            <a:off x="678656" y="2607469"/>
            <a:ext cx="3714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Chosen Models:</a:t>
            </a:r>
            <a:r>
              <a:rPr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Ridge (test R² = 0.881) and Polynomial (test R² = 0.752) show balanced train/test error — no overfitting.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" name="Google Shape;457;p49"/>
          <p:cNvSpPr txBox="1"/>
          <p:nvPr/>
        </p:nvSpPr>
        <p:spPr>
          <a:xfrm>
            <a:off x="678656" y="3421856"/>
            <a:ext cx="3714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Predicted vs. True (Ridge):</a:t>
            </a:r>
            <a:r>
              <a:rPr b="0"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Points hug the diagonal — accurate SOH tracking (test RMSE = 0.0524).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458" name="Google Shape;45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825228"/>
            <a:ext cx="107156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639615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3454003"/>
            <a:ext cx="142875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9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REGRESSION: BIAS-VARIANCE CHECK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9"/>
          <p:cNvSpPr/>
          <p:nvPr/>
        </p:nvSpPr>
        <p:spPr>
          <a:xfrm>
            <a:off x="428625" y="428625"/>
            <a:ext cx="42900" cy="407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53873" y="2920986"/>
            <a:ext cx="3765357" cy="196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40356" y="751725"/>
            <a:ext cx="2139519" cy="209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" sz="21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0"/>
          <p:cNvSpPr/>
          <p:nvPr/>
        </p:nvSpPr>
        <p:spPr>
          <a:xfrm>
            <a:off x="428625" y="428625"/>
            <a:ext cx="42900" cy="407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1" name="Google Shape;4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1609800"/>
            <a:ext cx="3518274" cy="115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09800"/>
            <a:ext cx="3518274" cy="115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2863" y="3191125"/>
            <a:ext cx="3518274" cy="115667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0"/>
          <p:cNvSpPr txBox="1"/>
          <p:nvPr/>
        </p:nvSpPr>
        <p:spPr>
          <a:xfrm>
            <a:off x="530300" y="1648337"/>
            <a:ext cx="33132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Regression: Ridge best for SOH prediction (test R² = 0.881, RMSE = 0.0524), train/val/test errors close — no overfitting; Polynomial slightly underfit.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0"/>
          <p:cNvSpPr txBox="1"/>
          <p:nvPr/>
        </p:nvSpPr>
        <p:spPr>
          <a:xfrm>
            <a:off x="4730825" y="1651725"/>
            <a:ext cx="33132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Classification: SVM (93.27%) and ANN (93.56%) both achieved strong, balanced Healthy vs. Degraded accuracy with low variance.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476" name="Google Shape;476;p50"/>
          <p:cNvSpPr txBox="1"/>
          <p:nvPr/>
        </p:nvSpPr>
        <p:spPr>
          <a:xfrm>
            <a:off x="2871638" y="3247462"/>
            <a:ext cx="33132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Clustering: K-Means (K=2) aligned naturally with healthy/degraded labels; HDBSCAN found 16 micro-clusters and flagged ~7.6% of cycles as anomalous transitional states.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