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Poppins"/>
      <p:regular r:id="rId21"/>
      <p:bold r:id="rId22"/>
      <p:italic r:id="rId23"/>
      <p:boldItalic r:id="rId24"/>
    </p:embeddedFont>
    <p:embeddedFont>
      <p:font typeface="Lato"/>
      <p:regular r:id="rId25"/>
      <p:bold r:id="rId26"/>
      <p:italic r:id="rId27"/>
      <p:boldItalic r:id="rId28"/>
    </p:embeddedFont>
    <p:embeddedFont>
      <p:font typeface="Poppins SemiBold"/>
      <p:regular r:id="rId29"/>
      <p:bold r:id="rId30"/>
      <p:italic r:id="rId31"/>
      <p:boldItalic r:id="rId32"/>
    </p:embeddedFont>
    <p:embeddedFont>
      <p:font typeface="Roboto Mon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042AEBC-0977-4489-A038-1669289F0651}">
  <a:tblStyle styleId="{8042AEBC-0977-4489-A038-1669289F065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oppins-bold.fntdata"/><Relationship Id="rId21" Type="http://schemas.openxmlformats.org/officeDocument/2006/relationships/font" Target="fonts/Poppins-regular.fntdata"/><Relationship Id="rId24" Type="http://schemas.openxmlformats.org/officeDocument/2006/relationships/font" Target="fonts/Poppins-boldItalic.fntdata"/><Relationship Id="rId23" Type="http://schemas.openxmlformats.org/officeDocument/2006/relationships/font" Target="fonts/Poppi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SemiBold-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SemiBold-italic.fntdata"/><Relationship Id="rId30" Type="http://schemas.openxmlformats.org/officeDocument/2006/relationships/font" Target="fonts/PoppinsSemiBold-bold.fntdata"/><Relationship Id="rId11" Type="http://schemas.openxmlformats.org/officeDocument/2006/relationships/slide" Target="slides/slide5.xml"/><Relationship Id="rId33" Type="http://schemas.openxmlformats.org/officeDocument/2006/relationships/font" Target="fonts/RobotoMono-regular.fntdata"/><Relationship Id="rId10" Type="http://schemas.openxmlformats.org/officeDocument/2006/relationships/slide" Target="slides/slide4.xml"/><Relationship Id="rId32" Type="http://schemas.openxmlformats.org/officeDocument/2006/relationships/font" Target="fonts/PoppinsSemiBold-boldItalic.fntdata"/><Relationship Id="rId13" Type="http://schemas.openxmlformats.org/officeDocument/2006/relationships/slide" Target="slides/slide7.xml"/><Relationship Id="rId35" Type="http://schemas.openxmlformats.org/officeDocument/2006/relationships/font" Target="fonts/RobotoMono-italic.fntdata"/><Relationship Id="rId12" Type="http://schemas.openxmlformats.org/officeDocument/2006/relationships/slide" Target="slides/slide6.xml"/><Relationship Id="rId34" Type="http://schemas.openxmlformats.org/officeDocument/2006/relationships/font" Target="fonts/RobotoMono-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RobotoMon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Phase 1 Requirements:</a:t>
            </a:r>
            <a:endParaRPr/>
          </a:p>
          <a:p>
            <a:pPr indent="-298450" lvl="0" marL="457200" rtl="0" algn="l">
              <a:spcBef>
                <a:spcPts val="0"/>
              </a:spcBef>
              <a:spcAft>
                <a:spcPts val="0"/>
              </a:spcAft>
              <a:buSzPts val="1100"/>
              <a:buAutoNum type="arabicParenR"/>
            </a:pPr>
            <a:r>
              <a:rPr lang="en-US"/>
              <a:t>Identify the method of data collection used for the </a:t>
            </a:r>
            <a:r>
              <a:rPr lang="en-US"/>
              <a:t>chosen</a:t>
            </a:r>
            <a:r>
              <a:rPr lang="en-US"/>
              <a:t> dataset</a:t>
            </a:r>
            <a:endParaRPr/>
          </a:p>
          <a:p>
            <a:pPr indent="-298450" lvl="0" marL="457200" rtl="0" algn="l">
              <a:spcBef>
                <a:spcPts val="0"/>
              </a:spcBef>
              <a:spcAft>
                <a:spcPts val="0"/>
              </a:spcAft>
              <a:buSzPts val="1100"/>
              <a:buAutoNum type="arabicParenR"/>
            </a:pPr>
            <a:r>
              <a:rPr lang="en-US"/>
              <a:t>Generate numerical summaries, including sample mean, variance, and standard deviation.</a:t>
            </a:r>
            <a:endParaRPr/>
          </a:p>
          <a:p>
            <a:pPr indent="-298450" lvl="0" marL="457200" rtl="0" algn="l">
              <a:spcBef>
                <a:spcPts val="0"/>
              </a:spcBef>
              <a:spcAft>
                <a:spcPts val="0"/>
              </a:spcAft>
              <a:buSzPts val="1100"/>
              <a:buAutoNum type="arabicParenR"/>
            </a:pPr>
            <a:r>
              <a:rPr lang="en-US"/>
              <a:t>Construct visual data displays such as histograms, stem-and-leaf diagrams, and box plots to identify outliers and understand the distribution.</a:t>
            </a:r>
            <a:endParaRPr/>
          </a:p>
          <a:p>
            <a:pPr indent="-298450" lvl="0" marL="457200" rtl="0" algn="l">
              <a:spcBef>
                <a:spcPts val="0"/>
              </a:spcBef>
              <a:spcAft>
                <a:spcPts val="0"/>
              </a:spcAft>
              <a:buSzPts val="1100"/>
              <a:buAutoNum type="arabicParenR"/>
            </a:pPr>
            <a:r>
              <a:rPr lang="en-US"/>
              <a:t>Perform hypothesis testing to determine if specific factors (e.g., temperature, pressure, or material type) significantly affect the output.</a:t>
            </a:r>
            <a:endParaRPr/>
          </a:p>
          <a:p>
            <a:pPr indent="-298450" lvl="0" marL="457200" rtl="0" algn="l">
              <a:spcBef>
                <a:spcPts val="0"/>
              </a:spcBef>
              <a:spcAft>
                <a:spcPts val="0"/>
              </a:spcAft>
              <a:buSzPts val="1100"/>
              <a:buAutoNum type="arabicParenR"/>
            </a:pPr>
            <a:r>
              <a:rPr lang="en-US"/>
              <a:t>Construct confidence intervals for the mean and variance to quantify the risks in the engineering decisions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Doctor Requirements:</a:t>
            </a:r>
            <a:endParaRPr/>
          </a:p>
          <a:p>
            <a:pPr indent="-298450" lvl="0" marL="457200" rtl="0" algn="l">
              <a:spcBef>
                <a:spcPts val="0"/>
              </a:spcBef>
              <a:spcAft>
                <a:spcPts val="0"/>
              </a:spcAft>
              <a:buSzPts val="1100"/>
              <a:buAutoNum type="arabicParenR"/>
            </a:pPr>
            <a:r>
              <a:rPr lang="en-US"/>
              <a:t>You should discuss the problem that you are trying to solve. </a:t>
            </a:r>
            <a:endParaRPr/>
          </a:p>
          <a:p>
            <a:pPr indent="-298450" lvl="0" marL="457200" rtl="0" algn="l">
              <a:spcBef>
                <a:spcPts val="0"/>
              </a:spcBef>
              <a:spcAft>
                <a:spcPts val="0"/>
              </a:spcAft>
              <a:buSzPts val="1100"/>
              <a:buAutoNum type="arabicParenR"/>
            </a:pPr>
            <a:r>
              <a:rPr lang="en-US"/>
              <a:t>Then how would you solve it and the current progress and the next steps with discussion of expected outcomes and how would you compare your solution to similar solutions. </a:t>
            </a:r>
            <a:endParaRPr/>
          </a:p>
          <a:p>
            <a:pPr indent="-298450" lvl="0" marL="457200" rtl="0" algn="l">
              <a:spcBef>
                <a:spcPts val="0"/>
              </a:spcBef>
              <a:spcAft>
                <a:spcPts val="0"/>
              </a:spcAft>
              <a:buSzPts val="1100"/>
              <a:buAutoNum type="arabicParenR"/>
            </a:pPr>
            <a:r>
              <a:rPr lang="en-US"/>
              <a:t>Also you need to show the pros and cons of your solution.</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AutoNum type="arabicParenR"/>
            </a:pPr>
            <a:r>
              <a:rPr lang="en-US">
                <a:solidFill>
                  <a:schemeClr val="dk1"/>
                </a:solidFill>
              </a:rPr>
              <a:t>objective: apply statistical analysis and machine learning techniques to a real-world lithium-ion battery degradation dataset in order to understand battery behavior over charge/discharge cycles, identify the most important variables affecting battery health, and build predictive models for battery capacity, State of Health, Remaining Useful Life, and health classification. </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problem we aim to solve: The problem we aim to solve is to predict battery health and remaining useful life using cycle-level measurements such as voltage, current, temperature, load, and capacity.</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Our project focuses on answering the following questions: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a:solidFill>
                  <a:schemeClr val="dk1"/>
                </a:solidFill>
              </a:rPr>
              <a:t>Which variables significantly affect battery capacity and health?</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How does battery capacity change over cycles?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Can we discover hidden patterns or groups of battery cycles using clustering?</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Can we predict battery capacity or remaining useful life using regression models?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Can we classify a battery cycle as Healthy or Degraded using classification models?</a:t>
            </a:r>
            <a:endParaRPr>
              <a:solidFill>
                <a:schemeClr val="dk1"/>
              </a:solidFill>
            </a:endParaRPr>
          </a:p>
        </p:txBody>
      </p:sp>
      <p:sp>
        <p:nvSpPr>
          <p:cNvPr id="113" name="Google Shape;11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data collection method for this project is a retrospective secondary analysis of a controlled experimental dataset. A retrospective study means the researcher does not collect new data but analyzes data that already exists from previous experiments or records; in our case, we are using the already-published NASA battery aging dataset from Kaggle/NASA. An observational study means researchers observe a process without actively controlling or assigning experimental conditions, but this dataset is not purely observational, because the original NASA data was collected in a controlled laboratory battery prognostics testbed where lithium-ion batteries were intentionally run through charge, discharge, and electrochemical impedance spectroscopy profiles at different temperatures and load conditions until degradation/end-of-life behavior was observed. Therefore, for our project, we can say: the original dataset was collected through a controlled experimental laboratory study, while our machine learning project uses it retrospectively as an existing dataset for predictive modeling of battery degradation. The dataset is suitable because it contains real engineering measurements such as voltage, current, temperature, time, capacity, and impedance-related variables, and recent studies have used the same NASA battery aging data for battery state-of-health and remaining useful life prediction</a:t>
            </a:r>
            <a:endParaRPr/>
          </a:p>
        </p:txBody>
      </p:sp>
      <p:sp>
        <p:nvSpPr>
          <p:cNvPr id="133" name="Google Shape;13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AutoNum type="arabicParenR"/>
            </a:pPr>
            <a:r>
              <a:rPr lang="en-US">
                <a:solidFill>
                  <a:schemeClr val="dk1"/>
                </a:solidFill>
              </a:rPr>
              <a:t>The purpose of this step is to understand the basic behavior of each variable before applying machine learning. The </a:t>
            </a:r>
            <a:r>
              <a:rPr b="1" lang="en-US">
                <a:solidFill>
                  <a:schemeClr val="dk1"/>
                </a:solidFill>
              </a:rPr>
              <a:t>mean</a:t>
            </a:r>
            <a:r>
              <a:rPr lang="en-US">
                <a:solidFill>
                  <a:schemeClr val="dk1"/>
                </a:solidFill>
              </a:rPr>
              <a:t> tells us the typical value, while the </a:t>
            </a:r>
            <a:r>
              <a:rPr b="1" lang="en-US">
                <a:solidFill>
                  <a:schemeClr val="dk1"/>
                </a:solidFill>
              </a:rPr>
              <a:t>standard deviation and variance</a:t>
            </a:r>
            <a:r>
              <a:rPr lang="en-US">
                <a:solidFill>
                  <a:schemeClr val="dk1"/>
                </a:solidFill>
              </a:rPr>
              <a:t> tell us how much the values change across battery cycles. This helps us detect variability, possible outliers, important variables, and whether feature scaling is needed before modeling. </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For Clustering is if we apply clustering directly, variables with larger values or larger variance may dominate the clustering result so before clustering, we need to apply </a:t>
            </a:r>
            <a:r>
              <a:rPr b="1" lang="en-US">
                <a:solidFill>
                  <a:schemeClr val="dk1"/>
                </a:solidFill>
              </a:rPr>
              <a:t>standardization</a:t>
            </a:r>
            <a:r>
              <a:rPr lang="en-US">
                <a:solidFill>
                  <a:schemeClr val="dk1"/>
                </a:solidFill>
              </a:rPr>
              <a:t> so all features contribute fairly - The numerical summaries show that the variables have different scales and variances, so standardization is required before clustering to prevent high-variance variables such as cycle number and temperature from dominating the clusters. </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For Regression: Regression needs us to understand which variables may explain changes in the target, such as </a:t>
            </a:r>
            <a:r>
              <a:rPr lang="en-US">
                <a:solidFill>
                  <a:schemeClr val="dk1"/>
                </a:solidFill>
              </a:rPr>
              <a:t>Capacity. This variation is useful because regression models learn from changes in the target. If capacity was almost constant, prediction would not be meaningful - The high variability in capacity shows that battery degradation is present in the dataset, making capacity a suitable regression target. Variables with noticeable variation, such as temperature and cycle number, may help explain and predict this degradation.</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For Classification: Classification will use health_class as the target, such as </a:t>
            </a:r>
            <a:r>
              <a:rPr b="1" lang="en-US">
                <a:solidFill>
                  <a:schemeClr val="dk1"/>
                </a:solidFill>
              </a:rPr>
              <a:t>Healthy</a:t>
            </a:r>
            <a:r>
              <a:rPr lang="en-US">
                <a:solidFill>
                  <a:schemeClr val="dk1"/>
                </a:solidFill>
              </a:rPr>
              <a:t> or </a:t>
            </a:r>
            <a:r>
              <a:rPr b="1" lang="en-US">
                <a:solidFill>
                  <a:schemeClr val="dk1"/>
                </a:solidFill>
              </a:rPr>
              <a:t>Degraded</a:t>
            </a:r>
            <a:r>
              <a:rPr lang="en-US">
                <a:solidFill>
                  <a:schemeClr val="dk1"/>
                </a:solidFill>
              </a:rPr>
              <a:t> - These summaries help us identify variables that may separate Healthy and Degraded cycles. Capacity, SOH, cycle number, and temperature are expected to be important indicators for classification. </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For example (classification):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Lower capacity may indicate degraded batteries.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Lower SOH may indicate worse battery health.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Higher cycle number may be related to aging.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Temperature variability may affect degradation behavior.</a:t>
            </a:r>
            <a:endParaRPr>
              <a:solidFill>
                <a:schemeClr val="dk1"/>
              </a:solidFill>
            </a:endParaRPr>
          </a:p>
        </p:txBody>
      </p:sp>
      <p:sp>
        <p:nvSpPr>
          <p:cNvPr id="201" name="Google Shape;20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arenR"/>
            </a:pPr>
            <a:r>
              <a:rPr lang="en-US">
                <a:solidFill>
                  <a:schemeClr val="dk1"/>
                </a:solidFill>
              </a:rPr>
              <a:t>purpose of histograms is to help us see whether the data is normally distributed, skewed, spread out, or contains unusual values/outliers.</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Capacity histogram: shows that battery capacity is not constant; it has noticeable variation. This confirms that the dataset contains different degradation levels, so </a:t>
            </a:r>
            <a:r>
              <a:rPr b="1" lang="en-US">
                <a:solidFill>
                  <a:schemeClr val="dk1"/>
                </a:solidFill>
              </a:rPr>
              <a:t>Capacity is a useful regression target (battery capacity varies clearly across cycles )</a:t>
            </a:r>
            <a:r>
              <a:rPr lang="en-US">
                <a:solidFill>
                  <a:schemeClr val="dk1"/>
                </a:solidFill>
              </a:rPr>
              <a:t>.</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SOH histogram: It shows that many SOH values are in the medium-to-low range. This means the dataset includes batteries at different health stages, which helps in health classification - </a:t>
            </a:r>
            <a:r>
              <a:rPr b="1" lang="en-US">
                <a:solidFill>
                  <a:schemeClr val="dk1"/>
                </a:solidFill>
              </a:rPr>
              <a:t>State of Health values are spread across different health levels</a:t>
            </a:r>
            <a:r>
              <a:rPr lang="en-US">
                <a:solidFill>
                  <a:schemeClr val="dk1"/>
                </a:solidFill>
              </a:rPr>
              <a:t>, including medium and low SOH values.</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Temperature histogram: It shows that the batteries were tested under different temperature conditions. This is useful because temperature may affect battery degradation and can be an important feature.</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Cycle Number: Cycle number is an important feature for studying battery aging and can help regression and classification models. </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Remaining Useful Life: Remaining Useful Life values are not equally distributed; many cycles have lower RUL values.</a:t>
            </a:r>
            <a:endParaRPr>
              <a:solidFill>
                <a:schemeClr val="dk1"/>
              </a:solidFill>
            </a:endParaRPr>
          </a:p>
          <a:p>
            <a:pPr indent="0" lvl="0" marL="0" rtl="0" algn="l">
              <a:spcBef>
                <a:spcPts val="0"/>
              </a:spcBef>
              <a:spcAft>
                <a:spcPts val="0"/>
              </a:spcAft>
              <a:buNone/>
            </a:pPr>
            <a:r>
              <a:rPr lang="en-US">
                <a:solidFill>
                  <a:schemeClr val="dk1"/>
                </a:solidFill>
              </a:rPr>
              <a:t>From the histograms, we can see that Capacity and SOH are left-skewed with possible low-value outliers, while Cycle Number and RUL are right-skewed. Temperature appears multi-modal because the batteries were tested under different experimental temperature conditions. These observations help us decide that scaling, outlier checking, and careful train-test splitting are needed before applying machine learning models. </a:t>
            </a:r>
            <a:endParaRPr>
              <a:solidFill>
                <a:schemeClr val="dk1"/>
              </a:solidFill>
            </a:endParaRPr>
          </a:p>
        </p:txBody>
      </p:sp>
      <p:sp>
        <p:nvSpPr>
          <p:cNvPr id="247" name="Google Shape;24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outliers helps us decide whether these values are </a:t>
            </a:r>
            <a:r>
              <a:rPr b="1" lang="en-US">
                <a:solidFill>
                  <a:schemeClr val="dk1"/>
                </a:solidFill>
              </a:rPr>
              <a:t>real degradation/failure cases</a:t>
            </a:r>
            <a:r>
              <a:rPr lang="en-US">
                <a:solidFill>
                  <a:schemeClr val="dk1"/>
                </a:solidFill>
              </a:rPr>
              <a:t> or </a:t>
            </a:r>
            <a:r>
              <a:rPr b="1" lang="en-US">
                <a:solidFill>
                  <a:schemeClr val="dk1"/>
                </a:solidFill>
              </a:rPr>
              <a:t>possible measurement errors</a:t>
            </a:r>
            <a:r>
              <a:rPr lang="en-US">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In this dataset, outliers are important because very low Capacity or SOH values may actually represent </a:t>
            </a:r>
            <a:r>
              <a:rPr b="1" lang="en-US">
                <a:solidFill>
                  <a:schemeClr val="dk1"/>
                </a:solidFill>
              </a:rPr>
              <a:t>failed or highly degraded batteries</a:t>
            </a:r>
            <a:r>
              <a:rPr lang="en-US">
                <a:solidFill>
                  <a:schemeClr val="dk1"/>
                </a:solidFill>
              </a:rPr>
              <a:t>, not wrong data.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outliers are calculated using IQR: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steps are:</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US">
                <a:solidFill>
                  <a:schemeClr val="dk1"/>
                </a:solidFill>
              </a:rPr>
              <a:t>Calculate </a:t>
            </a:r>
            <a:r>
              <a:rPr b="1" lang="en-US">
                <a:solidFill>
                  <a:schemeClr val="dk1"/>
                </a:solidFill>
              </a:rPr>
              <a:t>Q1</a:t>
            </a:r>
            <a:r>
              <a:rPr lang="en-US">
                <a:solidFill>
                  <a:schemeClr val="dk1"/>
                </a:solidFill>
              </a:rPr>
              <a:t> = 25th percentile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Calculate </a:t>
            </a:r>
            <a:r>
              <a:rPr b="1" lang="en-US">
                <a:solidFill>
                  <a:schemeClr val="dk1"/>
                </a:solidFill>
              </a:rPr>
              <a:t>Q3</a:t>
            </a:r>
            <a:r>
              <a:rPr lang="en-US">
                <a:solidFill>
                  <a:schemeClr val="dk1"/>
                </a:solidFill>
              </a:rPr>
              <a:t> = 75th percentile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Calculate: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IQR=Q3−Q1</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startAt="4"/>
            </a:pPr>
            <a:r>
              <a:rPr lang="en-US">
                <a:solidFill>
                  <a:schemeClr val="dk1"/>
                </a:solidFill>
              </a:rPr>
              <a:t>Any value below or above these limits is considered an outlier: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Lower Limit=Q1−1.5×IQR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Upper Limit=Q3+1.5×IQR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any value outside this range is marked as an outlier in the box plot.</a:t>
            </a:r>
            <a:endParaRPr>
              <a:solidFill>
                <a:schemeClr val="dk1"/>
              </a:solidFill>
            </a:endParaRPr>
          </a:p>
          <a:p>
            <a:pPr indent="0" lvl="0" marL="0" rtl="0" algn="l">
              <a:spcBef>
                <a:spcPts val="1200"/>
              </a:spcBef>
              <a:spcAft>
                <a:spcPts val="0"/>
              </a:spcAft>
              <a:buNone/>
            </a:pPr>
            <a:r>
              <a:rPr lang="en-US">
                <a:solidFill>
                  <a:schemeClr val="dk1"/>
                </a:solidFill>
              </a:rPr>
              <a:t>from the charts we can see that:</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Capacity: 214 outliers, about 7.7% &amp; Very low or very high capacity cycles </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SOH: 214 outliers, about 7.7%  &amp; Very degraded or unusual health values </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Voltage mean: 352 outliers, about 12.7% &amp; Possible abnormal voltage behavior </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Current mean: 200 outliers, about 7.4% &amp; Possible unusual current behavior </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Temperature mean: 0 outliers &amp; Temperature values are within expected ranges </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Discharge duration: 651 outliers, about 23.5%  &amp; Large variation in cycle duration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How can we solve or handle the outliers?</a:t>
            </a:r>
            <a:endParaRPr>
              <a:solidFill>
                <a:schemeClr val="dk1"/>
              </a:solidFill>
            </a:endParaRPr>
          </a:p>
          <a:p>
            <a:pPr indent="-298450" lvl="0" marL="457200" rtl="0" algn="l">
              <a:spcBef>
                <a:spcPts val="0"/>
              </a:spcBef>
              <a:spcAft>
                <a:spcPts val="0"/>
              </a:spcAft>
              <a:buSzPts val="1100"/>
              <a:buAutoNum type="arabicParenR"/>
            </a:pPr>
            <a:r>
              <a:rPr lang="en-US">
                <a:solidFill>
                  <a:schemeClr val="dk1"/>
                </a:solidFill>
              </a:rPr>
              <a:t>For example, very low Capacity and SOH values may represent real battery failure. In this case, we should </a:t>
            </a:r>
            <a:r>
              <a:rPr b="1" lang="en-US">
                <a:solidFill>
                  <a:schemeClr val="dk1"/>
                </a:solidFill>
              </a:rPr>
              <a:t>keep them</a:t>
            </a:r>
            <a:r>
              <a:rPr lang="en-US">
                <a:solidFill>
                  <a:schemeClr val="dk1"/>
                </a:solidFill>
              </a:rPr>
              <a:t>, because they are important for predicting degradation. </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Use scaling: For ML models, we should apply scaling, especially for: K-means clustering, SVM, ANN, Polynomial regression. A good option is </a:t>
            </a:r>
            <a:r>
              <a:rPr b="1" lang="en-US">
                <a:solidFill>
                  <a:schemeClr val="dk1"/>
                </a:solidFill>
              </a:rPr>
              <a:t>RobustScaler</a:t>
            </a:r>
            <a:r>
              <a:rPr lang="en-US">
                <a:solidFill>
                  <a:schemeClr val="dk1"/>
                </a:solidFill>
              </a:rPr>
              <a:t>, because it is less affected by outliers than StandardScaler </a:t>
            </a:r>
            <a:endParaRPr>
              <a:solidFill>
                <a:schemeClr val="dk1"/>
              </a:solidFill>
            </a:endParaRPr>
          </a:p>
          <a:p>
            <a:pPr indent="-298450" lvl="0" marL="457200" rtl="0" algn="l">
              <a:spcBef>
                <a:spcPts val="0"/>
              </a:spcBef>
              <a:spcAft>
                <a:spcPts val="0"/>
              </a:spcAft>
              <a:buClr>
                <a:schemeClr val="dk1"/>
              </a:buClr>
              <a:buSzPts val="1100"/>
              <a:buAutoNum type="arabicParenR"/>
            </a:pPr>
            <a:r>
              <a:rPr lang="en-US">
                <a:solidFill>
                  <a:schemeClr val="dk1"/>
                </a:solidFill>
              </a:rPr>
              <a:t>Use models that are less sensitive to outliers - Decision Trees and Random Forests are usually less affected by outliers than Linear Regression, SVM, or K-means.</a:t>
            </a:r>
            <a:endParaRPr>
              <a:solidFill>
                <a:schemeClr val="dk1"/>
              </a:solidFill>
            </a:endParaRPr>
          </a:p>
          <a:p>
            <a:pPr indent="-298450" lvl="0" marL="457200" rtl="0" algn="l">
              <a:spcBef>
                <a:spcPts val="0"/>
              </a:spcBef>
              <a:spcAft>
                <a:spcPts val="0"/>
              </a:spcAft>
              <a:buClr>
                <a:schemeClr val="dk1"/>
              </a:buClr>
              <a:buSzPts val="1100"/>
              <a:buAutoNum type="arabicParenR"/>
            </a:pPr>
            <a:r>
              <a:t/>
            </a:r>
            <a:endParaRPr>
              <a:solidFill>
                <a:schemeClr val="dk1"/>
              </a:solidFill>
            </a:endParaRPr>
          </a:p>
          <a:p>
            <a:pPr indent="0" lvl="0" marL="0" rtl="0" algn="l">
              <a:spcBef>
                <a:spcPts val="0"/>
              </a:spcBef>
              <a:spcAft>
                <a:spcPts val="0"/>
              </a:spcAft>
              <a:buNone/>
            </a:pPr>
            <a:r>
              <a:t/>
            </a:r>
            <a:endParaRPr/>
          </a:p>
        </p:txBody>
      </p:sp>
      <p:sp>
        <p:nvSpPr>
          <p:cNvPr id="270" name="Google Shape;27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arenR"/>
            </a:pPr>
            <a:r>
              <a:rPr lang="en-US">
                <a:solidFill>
                  <a:schemeClr val="dk1"/>
                </a:solidFill>
              </a:rPr>
              <a:t>The purpose of hypothesis testing is to check whether the difference we see in the data is real and statistically significant, or if it could have happened by random chance.</a:t>
            </a:r>
            <a:endParaRPr>
              <a:solidFill>
                <a:schemeClr val="dk1"/>
              </a:solidFill>
            </a:endParaRPr>
          </a:p>
          <a:p>
            <a:pPr indent="-298450" lvl="0" marL="457200" marR="381000" rtl="0" algn="l">
              <a:lnSpc>
                <a:spcPct val="115000"/>
              </a:lnSpc>
              <a:spcBef>
                <a:spcPts val="0"/>
              </a:spcBef>
              <a:spcAft>
                <a:spcPts val="0"/>
              </a:spcAft>
              <a:buClr>
                <a:schemeClr val="dk1"/>
              </a:buClr>
              <a:buSzPts val="1100"/>
              <a:buAutoNum type="arabicParenR"/>
            </a:pPr>
            <a:r>
              <a:rPr lang="en-US">
                <a:solidFill>
                  <a:schemeClr val="dk1"/>
                </a:solidFill>
              </a:rPr>
              <a:t>so our hypothesis question is Does ambient temperature significantly affect battery capacity? → because if temperature affects capacity, then temperature should be considered an important feature later in regression, classification, and clustering.</a:t>
            </a:r>
            <a:endParaRPr>
              <a:solidFill>
                <a:schemeClr val="dk1"/>
              </a:solidFill>
            </a:endParaRPr>
          </a:p>
          <a:p>
            <a:pPr indent="-298450" lvl="0" marL="457200" marR="381000" rtl="0" algn="l">
              <a:lnSpc>
                <a:spcPct val="115000"/>
              </a:lnSpc>
              <a:spcBef>
                <a:spcPts val="0"/>
              </a:spcBef>
              <a:spcAft>
                <a:spcPts val="0"/>
              </a:spcAft>
              <a:buClr>
                <a:schemeClr val="dk1"/>
              </a:buClr>
              <a:buSzPts val="1100"/>
              <a:buAutoNum type="arabicParenR"/>
            </a:pPr>
            <a:r>
              <a:rPr lang="en-US">
                <a:solidFill>
                  <a:schemeClr val="dk1"/>
                </a:solidFill>
              </a:rPr>
              <a:t>ANOVA (Analysis of Variance): It is a statistical test used to compare the mean of one numerical variable across more than two groups.</a:t>
            </a:r>
            <a:endParaRPr>
              <a:solidFill>
                <a:schemeClr val="dk1"/>
              </a:solidFill>
            </a:endParaRPr>
          </a:p>
          <a:p>
            <a:pPr indent="0" lvl="0" marL="0" marR="381000" rtl="0" algn="l">
              <a:lnSpc>
                <a:spcPct val="115000"/>
              </a:lnSpc>
              <a:spcBef>
                <a:spcPts val="1200"/>
              </a:spcBef>
              <a:spcAft>
                <a:spcPts val="0"/>
              </a:spcAft>
              <a:buNone/>
            </a:pPr>
            <a:r>
              <a:rPr lang="en-US">
                <a:solidFill>
                  <a:schemeClr val="dk1"/>
                </a:solidFill>
              </a:rPr>
              <a:t>In our case: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Numerical variable: </a:t>
            </a:r>
            <a:r>
              <a:rPr b="1" lang="en-US">
                <a:solidFill>
                  <a:schemeClr val="dk1"/>
                </a:solidFill>
              </a:rPr>
              <a:t>Capacity</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Groups: different ambient temperatures</a:t>
            </a:r>
            <a:br>
              <a:rPr lang="en-US">
                <a:solidFill>
                  <a:schemeClr val="dk1"/>
                </a:solidFill>
              </a:rPr>
            </a:br>
            <a:r>
              <a:rPr lang="en-US">
                <a:solidFill>
                  <a:schemeClr val="dk1"/>
                </a:solidFill>
              </a:rPr>
              <a:t> </a:t>
            </a:r>
            <a:r>
              <a:rPr lang="en-US">
                <a:solidFill>
                  <a:srgbClr val="188038"/>
                </a:solidFill>
                <a:latin typeface="Roboto Mono"/>
                <a:ea typeface="Roboto Mono"/>
                <a:cs typeface="Roboto Mono"/>
                <a:sym typeface="Roboto Mono"/>
              </a:rPr>
              <a:t>4°C, 22°C, 24°C, 43°C, 44°C</a:t>
            </a:r>
            <a:endParaRPr>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None/>
            </a:pPr>
            <a:r>
              <a:rPr lang="en-US">
                <a:solidFill>
                  <a:schemeClr val="dk1"/>
                </a:solidFill>
              </a:rPr>
              <a:t>So ANOVA checks whether the average capacity is the same across all temperature groups or not.</a:t>
            </a:r>
            <a:endParaRPr>
              <a:solidFill>
                <a:schemeClr val="dk1"/>
              </a:solidFill>
            </a:endParaRPr>
          </a:p>
          <a:p>
            <a:pPr indent="-298450" lvl="0" marL="457200" marR="381000" rtl="0" algn="l">
              <a:lnSpc>
                <a:spcPct val="115000"/>
              </a:lnSpc>
              <a:spcBef>
                <a:spcPts val="1200"/>
              </a:spcBef>
              <a:spcAft>
                <a:spcPts val="0"/>
              </a:spcAft>
              <a:buClr>
                <a:schemeClr val="dk1"/>
              </a:buClr>
              <a:buSzPts val="1100"/>
              <a:buAutoNum type="arabicParenR"/>
            </a:pPr>
            <a:r>
              <a:rPr lang="en-US">
                <a:solidFill>
                  <a:schemeClr val="dk1"/>
                </a:solidFill>
              </a:rPr>
              <a:t>We used ANOVA because we are comparing </a:t>
            </a:r>
            <a:r>
              <a:rPr b="1" lang="en-US">
                <a:solidFill>
                  <a:schemeClr val="dk1"/>
                </a:solidFill>
              </a:rPr>
              <a:t>capacity means across multiple temperature groups</a:t>
            </a:r>
            <a:r>
              <a:rPr lang="en-US">
                <a:solidFill>
                  <a:schemeClr val="dk1"/>
                </a:solidFill>
              </a:rPr>
              <a:t>, not just two groups. If we had only two temperature groups, we could use a t-test But because we have more than two groups, ANOVA is the correct test.</a:t>
            </a:r>
            <a:endParaRPr>
              <a:solidFill>
                <a:schemeClr val="dk1"/>
              </a:solidFill>
            </a:endParaRPr>
          </a:p>
          <a:p>
            <a:pPr indent="-298450" lvl="0" marL="457200" marR="381000" rtl="0" algn="l">
              <a:lnSpc>
                <a:spcPct val="115000"/>
              </a:lnSpc>
              <a:spcBef>
                <a:spcPts val="0"/>
              </a:spcBef>
              <a:spcAft>
                <a:spcPts val="0"/>
              </a:spcAft>
              <a:buClr>
                <a:schemeClr val="dk1"/>
              </a:buClr>
              <a:buSzPts val="1100"/>
              <a:buAutoNum type="arabicParenR"/>
            </a:pPr>
            <a:r>
              <a:rPr lang="en-US">
                <a:solidFill>
                  <a:schemeClr val="dk1"/>
                </a:solidFill>
              </a:rPr>
              <a:t>Null hypothesis H₀: Ambient temperature has no effect on battery capacity (This means all temperature groups have the same average capacity.) &amp; Alternative hypothesis H₁: Ambient temperature significantly affects battery capacity (This means at least one temperature group has a different average capacity.)</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arenR"/>
            </a:pPr>
            <a:r>
              <a:rPr lang="en-US">
                <a:solidFill>
                  <a:schemeClr val="dk1"/>
                </a:solidFill>
              </a:rPr>
              <a:t>ANOVA compares two types of variation:</a:t>
            </a:r>
            <a:endParaRPr>
              <a:solidFill>
                <a:schemeClr val="dk1"/>
              </a:solidFill>
            </a:endParaRPr>
          </a:p>
          <a:p>
            <a:pPr indent="0" lvl="0" marL="0" rtl="0" algn="l">
              <a:lnSpc>
                <a:spcPct val="115000"/>
              </a:lnSpc>
              <a:spcBef>
                <a:spcPts val="1400"/>
              </a:spcBef>
              <a:spcAft>
                <a:spcPts val="0"/>
              </a:spcAft>
              <a:buNone/>
            </a:pPr>
            <a:r>
              <a:rPr b="1" lang="en-US" sz="1300">
                <a:solidFill>
                  <a:schemeClr val="dk1"/>
                </a:solidFill>
              </a:rPr>
              <a:t>1. Between-group variation</a:t>
            </a:r>
            <a:endParaRPr b="1" sz="1300">
              <a:solidFill>
                <a:schemeClr val="dk1"/>
              </a:solidFill>
            </a:endParaRPr>
          </a:p>
          <a:p>
            <a:pPr indent="0" lvl="0" marL="0" rtl="0" algn="l">
              <a:lnSpc>
                <a:spcPct val="115000"/>
              </a:lnSpc>
              <a:spcBef>
                <a:spcPts val="1200"/>
              </a:spcBef>
              <a:spcAft>
                <a:spcPts val="0"/>
              </a:spcAft>
              <a:buNone/>
            </a:pPr>
            <a:r>
              <a:rPr lang="en-US">
                <a:solidFill>
                  <a:schemeClr val="dk1"/>
                </a:solidFill>
              </a:rPr>
              <a:t>This measures how different the mean capacity is between temperature groups.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Example:</a:t>
            </a:r>
            <a:br>
              <a:rPr lang="en-US">
                <a:solidFill>
                  <a:schemeClr val="dk1"/>
                </a:solidFill>
              </a:rPr>
            </a:br>
            <a:r>
              <a:rPr lang="en-US">
                <a:solidFill>
                  <a:schemeClr val="dk1"/>
                </a:solidFill>
              </a:rPr>
              <a:t> Is the mean capacity at 4°C different from 22°C, 43°C, or 44°C?</a:t>
            </a:r>
            <a:endParaRPr>
              <a:solidFill>
                <a:schemeClr val="dk1"/>
              </a:solidFill>
            </a:endParaRPr>
          </a:p>
          <a:p>
            <a:pPr indent="0" lvl="0" marL="0" rtl="0" algn="l">
              <a:lnSpc>
                <a:spcPct val="115000"/>
              </a:lnSpc>
              <a:spcBef>
                <a:spcPts val="1400"/>
              </a:spcBef>
              <a:spcAft>
                <a:spcPts val="0"/>
              </a:spcAft>
              <a:buNone/>
            </a:pPr>
            <a:r>
              <a:rPr b="1" lang="en-US" sz="1300">
                <a:solidFill>
                  <a:schemeClr val="dk1"/>
                </a:solidFill>
              </a:rPr>
              <a:t>2. Within-group variation</a:t>
            </a:r>
            <a:endParaRPr b="1" sz="1300">
              <a:solidFill>
                <a:schemeClr val="dk1"/>
              </a:solidFill>
            </a:endParaRPr>
          </a:p>
          <a:p>
            <a:pPr indent="0" lvl="0" marL="0" rtl="0" algn="l">
              <a:lnSpc>
                <a:spcPct val="115000"/>
              </a:lnSpc>
              <a:spcBef>
                <a:spcPts val="1200"/>
              </a:spcBef>
              <a:spcAft>
                <a:spcPts val="0"/>
              </a:spcAft>
              <a:buNone/>
            </a:pPr>
            <a:r>
              <a:rPr lang="en-US">
                <a:solidFill>
                  <a:schemeClr val="dk1"/>
                </a:solidFill>
              </a:rPr>
              <a:t>This measures how much capacity values vary inside the same temperature group.</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Then ANOVA calculates the </a:t>
            </a:r>
            <a:r>
              <a:rPr b="1" lang="en-US">
                <a:solidFill>
                  <a:schemeClr val="dk1"/>
                </a:solidFill>
              </a:rPr>
              <a:t>F-statistic</a:t>
            </a:r>
            <a:r>
              <a:rPr lang="en-US">
                <a:solidFill>
                  <a:schemeClr val="dk1"/>
                </a:solidFill>
              </a:rPr>
              <a:t>:</a:t>
            </a:r>
            <a:endParaRPr>
              <a:solidFill>
                <a:schemeClr val="dk1"/>
              </a:solidFill>
            </a:endParaRPr>
          </a:p>
          <a:p>
            <a:pPr indent="457200" lvl="0" marL="0" rtl="0" algn="l">
              <a:lnSpc>
                <a:spcPct val="115000"/>
              </a:lnSpc>
              <a:spcBef>
                <a:spcPts val="1200"/>
              </a:spcBef>
              <a:spcAft>
                <a:spcPts val="0"/>
              </a:spcAft>
              <a:buClr>
                <a:schemeClr val="dk1"/>
              </a:buClr>
              <a:buSzPts val="1100"/>
              <a:buFont typeface="Arial"/>
              <a:buNone/>
            </a:pPr>
            <a:r>
              <a:rPr lang="en-US">
                <a:solidFill>
                  <a:schemeClr val="dk1"/>
                </a:solidFill>
              </a:rPr>
              <a:t>F= Variation within groups / Variation between groups​</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If the F-value is large, it means the difference between groups is large compared to the variation inside each group.</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arenR"/>
            </a:pPr>
            <a:r>
              <a:rPr lang="en-US">
                <a:solidFill>
                  <a:schemeClr val="dk1"/>
                </a:solidFill>
              </a:rPr>
              <a:t>The result showed a very large F-statistic and a p-value below 0.05, so we rejected the null hypothesis and concluded that ambient temperature significantly affects battery capacity (Ambient temperature has a statistically significant effect on battery capacity). This test tells us that temperature is not just a random variable in the dataset. It has a real relationship with battery capacity. </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
        <p:nvSpPr>
          <p:cNvPr id="291" name="Google Shape;29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df8a058cd1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this hypothesis test, we wanted to know whether a battery's health class — healthy or degraded — has a real effect on its capacity, or whether any difference we see is just random chance.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used t-test because we have two independent groups with unequal variance — you can clearly see in the histogram that the degraded group is far more spread out than the healthy group.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t-statistic came out at 53.64, which is extremely large. To put that in perspective, anything above 1.96 is enough to reject H₀ at the 5% significance level — we got 53. The p-value is essentially zero, meaning there is virtually no chance this difference happened randomly.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we reject H₀ and conclude that health class is a statistically significant predictor of capacity — which also validates our decision to use health class as a feature in our model."</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
        <p:nvSpPr>
          <p:cNvPr id="314" name="Google Shape;314;g3df8a058cd1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AutoNum type="arabicParenR"/>
            </a:pPr>
            <a:r>
              <a:rPr lang="en-US">
                <a:solidFill>
                  <a:schemeClr val="dk1"/>
                </a:solidFill>
              </a:rPr>
              <a:t>The purpose of a </a:t>
            </a:r>
            <a:r>
              <a:rPr b="1" lang="en-US">
                <a:solidFill>
                  <a:schemeClr val="dk1"/>
                </a:solidFill>
              </a:rPr>
              <a:t>confidence interval</a:t>
            </a:r>
            <a:r>
              <a:rPr lang="en-US">
                <a:solidFill>
                  <a:schemeClr val="dk1"/>
                </a:solidFill>
              </a:rPr>
              <a:t> is to estimate the range where the true average value of a battery variable is likely to fall.</a:t>
            </a:r>
            <a:endParaRPr>
              <a:solidFill>
                <a:schemeClr val="dk1"/>
              </a:solidFill>
            </a:endParaRPr>
          </a:p>
          <a:p>
            <a:pPr indent="-298450" lvl="0" marL="457200" rtl="0" algn="l">
              <a:spcBef>
                <a:spcPts val="0"/>
              </a:spcBef>
              <a:spcAft>
                <a:spcPts val="0"/>
              </a:spcAft>
              <a:buClr>
                <a:schemeClr val="dk1"/>
              </a:buClr>
              <a:buSzPts val="1100"/>
              <a:buAutoNum type="arabicParenR"/>
            </a:pPr>
            <a:r>
              <a:t/>
            </a:r>
            <a:endParaRPr>
              <a:solidFill>
                <a:schemeClr val="dk1"/>
              </a:solidFill>
            </a:endParaRPr>
          </a:p>
        </p:txBody>
      </p:sp>
      <p:sp>
        <p:nvSpPr>
          <p:cNvPr id="337" name="Google Shape;33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prior work focused on building a regression model only. in our work we will </a:t>
            </a:r>
            <a:r>
              <a:rPr lang="en-US"/>
              <a:t>implement:</a:t>
            </a:r>
            <a:endParaRPr/>
          </a:p>
          <a:p>
            <a:pPr indent="-298450" lvl="0" marL="457200" rtl="0" algn="l">
              <a:spcBef>
                <a:spcPts val="0"/>
              </a:spcBef>
              <a:spcAft>
                <a:spcPts val="0"/>
              </a:spcAft>
              <a:buSzPts val="1100"/>
              <a:buAutoNum type="arabicParenR"/>
            </a:pPr>
            <a:r>
              <a:rPr lang="en-US"/>
              <a:t>PCA for dimensionality reduction</a:t>
            </a:r>
            <a:endParaRPr/>
          </a:p>
          <a:p>
            <a:pPr indent="-298450" lvl="0" marL="457200" rtl="0" algn="l">
              <a:spcBef>
                <a:spcPts val="0"/>
              </a:spcBef>
              <a:spcAft>
                <a:spcPts val="0"/>
              </a:spcAft>
              <a:buSzPts val="1100"/>
              <a:buAutoNum type="arabicParenR"/>
            </a:pPr>
            <a:r>
              <a:rPr lang="en-US"/>
              <a:t>K-means clustering</a:t>
            </a:r>
            <a:endParaRPr/>
          </a:p>
          <a:p>
            <a:pPr indent="-298450" lvl="0" marL="457200" rtl="0" algn="l">
              <a:spcBef>
                <a:spcPts val="0"/>
              </a:spcBef>
              <a:spcAft>
                <a:spcPts val="0"/>
              </a:spcAft>
              <a:buSzPts val="1100"/>
              <a:buAutoNum type="arabicParenR"/>
            </a:pPr>
            <a:r>
              <a:rPr lang="en-US"/>
              <a:t>Regression to predict Capacity – based on EDA Analysis (using Multiple Linear Regression or Polynomial Regression)</a:t>
            </a:r>
            <a:endParaRPr/>
          </a:p>
          <a:p>
            <a:pPr indent="-298450" lvl="0" marL="457200" rtl="0" algn="l">
              <a:spcBef>
                <a:spcPts val="0"/>
              </a:spcBef>
              <a:spcAft>
                <a:spcPts val="0"/>
              </a:spcAft>
              <a:buSzPts val="1100"/>
              <a:buAutoNum type="arabicParenR"/>
            </a:pPr>
            <a:r>
              <a:rPr lang="en-US"/>
              <a:t>Classification we will predict health_class (using SVM vs Decision Tree vs ANN)</a:t>
            </a:r>
            <a:endParaRPr/>
          </a:p>
        </p:txBody>
      </p:sp>
      <p:sp>
        <p:nvSpPr>
          <p:cNvPr id="358" name="Google Shape;35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arenR"/>
            </a:pPr>
            <a:r>
              <a:rPr b="1" lang="en-US"/>
              <a:t>Feature Reduction:</a:t>
            </a:r>
            <a:r>
              <a:rPr lang="en-US"/>
              <a:t> </a:t>
            </a:r>
            <a:r>
              <a:rPr lang="en-US">
                <a:solidFill>
                  <a:srgbClr val="188038"/>
                </a:solidFill>
              </a:rPr>
              <a:t>PCA </a:t>
            </a:r>
            <a:r>
              <a:rPr lang="en-US"/>
              <a:t>- You have 54 features after cleaning — many are correlated (e.g., voltage_mean and voltage_last). PCA reduces them to the top components explaining ≥80% variance, removing noise before feeding into ML models </a:t>
            </a:r>
            <a:endParaRPr/>
          </a:p>
          <a:p>
            <a:pPr indent="-298450" lvl="0" marL="457200" rtl="0" algn="l">
              <a:spcBef>
                <a:spcPts val="0"/>
              </a:spcBef>
              <a:spcAft>
                <a:spcPts val="0"/>
              </a:spcAft>
              <a:buSzPts val="1100"/>
              <a:buAutoNum type="arabicParenR"/>
            </a:pPr>
            <a:r>
              <a:rPr b="1" lang="en-US"/>
              <a:t>Regression Models: </a:t>
            </a:r>
            <a:r>
              <a:rPr lang="en-US"/>
              <a:t>Linear Regression, Polynomial Regression,  ANN (MLP) </a:t>
            </a:r>
            <a:endParaRPr/>
          </a:p>
          <a:p>
            <a:pPr indent="-298450" lvl="0" marL="457200" rtl="0" algn="l">
              <a:spcBef>
                <a:spcPts val="0"/>
              </a:spcBef>
              <a:spcAft>
                <a:spcPts val="0"/>
              </a:spcAft>
              <a:buSzPts val="1100"/>
              <a:buAutoNum type="arabicParenR"/>
            </a:pPr>
            <a:r>
              <a:rPr b="1" lang="en-US"/>
              <a:t>Classification Models: </a:t>
            </a:r>
            <a:r>
              <a:rPr lang="en-US"/>
              <a:t>Fisher's LDA, Perceptron, Logistic Regression, Naive Bayes, SVM, KNN, Decision Tree </a:t>
            </a:r>
            <a:endParaRPr/>
          </a:p>
          <a:p>
            <a:pPr indent="-298450" lvl="0" marL="457200" rtl="0" algn="l">
              <a:spcBef>
                <a:spcPts val="0"/>
              </a:spcBef>
              <a:spcAft>
                <a:spcPts val="0"/>
              </a:spcAft>
              <a:buSzPts val="1100"/>
              <a:buAutoNum type="arabicParenR"/>
            </a:pPr>
            <a:r>
              <a:rPr b="1" lang="en-US"/>
              <a:t>Clustering Models: </a:t>
            </a:r>
            <a:r>
              <a:rPr lang="en-US"/>
              <a:t>K-Means, Hierarchical Clustering, DBSCAN , Fuzzy C-Means</a:t>
            </a:r>
            <a:endParaRPr/>
          </a:p>
        </p:txBody>
      </p:sp>
      <p:sp>
        <p:nvSpPr>
          <p:cNvPr id="370" name="Google Shape;37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5.png"/><Relationship Id="rId10" Type="http://schemas.openxmlformats.org/officeDocument/2006/relationships/image" Target="../media/image1.png"/><Relationship Id="rId9"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3.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29.png"/><Relationship Id="rId6" Type="http://schemas.openxmlformats.org/officeDocument/2006/relationships/hyperlink" Target="https://data.nasa.gov/dataset/li-ion-battery-aging-datasets" TargetMode="External"/><Relationship Id="rId7"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image" Target="../media/image25.png"/><Relationship Id="rId6" Type="http://schemas.openxmlformats.org/officeDocument/2006/relationships/image" Target="../media/image11.png"/><Relationship Id="rId7"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30.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9.png"/><Relationship Id="rId11" Type="http://schemas.openxmlformats.org/officeDocument/2006/relationships/image" Target="../media/image31.png"/><Relationship Id="rId10" Type="http://schemas.openxmlformats.org/officeDocument/2006/relationships/image" Target="../media/image7.png"/><Relationship Id="rId9"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4.png"/><Relationship Id="rId7" Type="http://schemas.openxmlformats.org/officeDocument/2006/relationships/image" Target="../media/image22.png"/><Relationship Id="rId8"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9.png"/><Relationship Id="rId11" Type="http://schemas.openxmlformats.org/officeDocument/2006/relationships/image" Target="../media/image17.png"/><Relationship Id="rId10" Type="http://schemas.openxmlformats.org/officeDocument/2006/relationships/image" Target="../media/image26.png"/><Relationship Id="rId9" Type="http://schemas.openxmlformats.org/officeDocument/2006/relationships/image" Target="../media/image24.png"/><Relationship Id="rId5" Type="http://schemas.openxmlformats.org/officeDocument/2006/relationships/image" Target="../media/image14.png"/><Relationship Id="rId6" Type="http://schemas.openxmlformats.org/officeDocument/2006/relationships/image" Target="../media/image22.png"/><Relationship Id="rId7" Type="http://schemas.openxmlformats.org/officeDocument/2006/relationships/image" Target="../media/image7.png"/><Relationship Id="rId8"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hyperlink" Target="https://www.mdpi.com/2032-6653/16/11/594" TargetMode="External"/><Relationship Id="rId5" Type="http://schemas.openxmlformats.org/officeDocument/2006/relationships/hyperlink" Target="https://www.nature.com/articles/s41598-025-92262-8" TargetMode="External"/><Relationship Id="rId6" Type="http://schemas.openxmlformats.org/officeDocument/2006/relationships/hyperlink" Target="https://www.nature.com/articles/s41598-025-20995-7"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28.png"/><Relationship Id="rId5" Type="http://schemas.openxmlformats.org/officeDocument/2006/relationships/image" Target="../media/image34.png"/><Relationship Id="rId6" Type="http://schemas.openxmlformats.org/officeDocument/2006/relationships/image" Target="../media/image32.png"/><Relationship Id="rId7"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028700" y="2120354"/>
            <a:ext cx="11121300" cy="1551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800" u="none" cap="none" strike="noStrike">
                <a:solidFill>
                  <a:srgbClr val="FFFFFF"/>
                </a:solidFill>
                <a:latin typeface="Poppins"/>
                <a:ea typeface="Poppins"/>
                <a:cs typeface="Poppins"/>
                <a:sym typeface="Poppins"/>
              </a:rPr>
              <a:t>Predictive Modeling of</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0DB4B9"/>
                </a:solidFill>
                <a:latin typeface="Poppins"/>
                <a:ea typeface="Poppins"/>
                <a:cs typeface="Poppins"/>
                <a:sym typeface="Poppins"/>
              </a:rPr>
              <a:t>Battery </a:t>
            </a:r>
            <a:r>
              <a:rPr b="1" lang="en-US" sz="4800">
                <a:solidFill>
                  <a:srgbClr val="0DB4B9"/>
                </a:solidFill>
                <a:latin typeface="Poppins"/>
                <a:ea typeface="Poppins"/>
                <a:cs typeface="Poppins"/>
                <a:sym typeface="Poppins"/>
              </a:rPr>
              <a:t>Failure</a:t>
            </a:r>
            <a:endParaRPr/>
          </a:p>
        </p:txBody>
      </p:sp>
      <p:sp>
        <p:nvSpPr>
          <p:cNvPr id="86" name="Google Shape;86;p13"/>
          <p:cNvSpPr txBox="1"/>
          <p:nvPr/>
        </p:nvSpPr>
        <p:spPr>
          <a:xfrm>
            <a:off x="1028700" y="3866526"/>
            <a:ext cx="10591800" cy="564600"/>
          </a:xfrm>
          <a:prstGeom prst="rect">
            <a:avLst/>
          </a:prstGeom>
          <a:noFill/>
          <a:ln>
            <a:noFill/>
          </a:ln>
        </p:spPr>
        <p:txBody>
          <a:bodyPr anchorCtr="0" anchor="t" bIns="0" lIns="0" spcFirstLastPara="1" rIns="0" wrap="square" tIns="0">
            <a:spAutoFit/>
          </a:bodyPr>
          <a:lstStyle/>
          <a:p>
            <a:pPr indent="0" lvl="0" marL="0" marR="0" rtl="0" algn="l">
              <a:lnSpc>
                <a:spcPct val="137500"/>
              </a:lnSpc>
              <a:spcBef>
                <a:spcPts val="0"/>
              </a:spcBef>
              <a:spcAft>
                <a:spcPts val="0"/>
              </a:spcAft>
              <a:buNone/>
            </a:pPr>
            <a:r>
              <a:rPr b="0" i="1" lang="en-US" sz="1650" u="none" cap="none" strike="noStrike">
                <a:solidFill>
                  <a:srgbClr val="CBD5E1"/>
                </a:solidFill>
                <a:latin typeface="Lato"/>
                <a:ea typeface="Lato"/>
                <a:cs typeface="Lato"/>
                <a:sym typeface="Lato"/>
              </a:rPr>
              <a:t>Phase 1: Statistical Foundation &amp; Exploratory Analysis</a:t>
            </a:r>
            <a:br>
              <a:rPr b="0" i="0" lang="en-US" sz="1800" u="none" cap="none" strike="noStrike">
                <a:solidFill>
                  <a:schemeClr val="dk1"/>
                </a:solidFill>
                <a:latin typeface="Calibri"/>
                <a:ea typeface="Calibri"/>
                <a:cs typeface="Calibri"/>
                <a:sym typeface="Calibri"/>
              </a:rPr>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2" name="Google Shape;92;p14"/>
          <p:cNvPicPr preferRelativeResize="0"/>
          <p:nvPr/>
        </p:nvPicPr>
        <p:blipFill rotWithShape="1">
          <a:blip r:embed="rId4">
            <a:alphaModFix/>
          </a:blip>
          <a:srcRect b="0" l="0" r="0" t="0"/>
          <a:stretch/>
        </p:blipFill>
        <p:spPr>
          <a:xfrm>
            <a:off x="483500" y="2278638"/>
            <a:ext cx="5376672" cy="2300725"/>
          </a:xfrm>
          <a:prstGeom prst="rect">
            <a:avLst/>
          </a:prstGeom>
          <a:noFill/>
          <a:ln>
            <a:noFill/>
          </a:ln>
        </p:spPr>
      </p:pic>
      <p:pic>
        <p:nvPicPr>
          <p:cNvPr descr="image.png" id="93" name="Google Shape;93;p14"/>
          <p:cNvPicPr preferRelativeResize="0"/>
          <p:nvPr/>
        </p:nvPicPr>
        <p:blipFill rotWithShape="1">
          <a:blip r:embed="rId5">
            <a:alphaModFix/>
          </a:blip>
          <a:srcRect b="0" l="0" r="0" t="0"/>
          <a:stretch/>
        </p:blipFill>
        <p:spPr>
          <a:xfrm>
            <a:off x="6244220" y="2278638"/>
            <a:ext cx="5376672" cy="2300725"/>
          </a:xfrm>
          <a:prstGeom prst="rect">
            <a:avLst/>
          </a:prstGeom>
          <a:noFill/>
          <a:ln>
            <a:noFill/>
          </a:ln>
        </p:spPr>
      </p:pic>
      <p:sp>
        <p:nvSpPr>
          <p:cNvPr id="94" name="Google Shape;94;p14"/>
          <p:cNvSpPr txBox="1"/>
          <p:nvPr/>
        </p:nvSpPr>
        <p:spPr>
          <a:xfrm>
            <a:off x="1069173" y="2621538"/>
            <a:ext cx="4445400" cy="238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50" u="none" cap="none" strike="noStrike">
                <a:solidFill>
                  <a:srgbClr val="475569"/>
                </a:solidFill>
                <a:latin typeface="Lato"/>
                <a:ea typeface="Lato"/>
                <a:cs typeface="Lato"/>
                <a:sym typeface="Lato"/>
              </a:rPr>
              <a:t>01</a:t>
            </a:r>
            <a:r>
              <a:rPr b="0" i="0" lang="en-US" sz="1550" u="none" cap="none" strike="noStrike">
                <a:solidFill>
                  <a:srgbClr val="475569"/>
                </a:solidFill>
                <a:latin typeface="Lato"/>
                <a:ea typeface="Lato"/>
                <a:cs typeface="Lato"/>
                <a:sym typeface="Lato"/>
              </a:rPr>
              <a:t>   Project Objective &amp; Problem Statement</a:t>
            </a:r>
            <a:endParaRPr sz="1600"/>
          </a:p>
        </p:txBody>
      </p:sp>
      <p:sp>
        <p:nvSpPr>
          <p:cNvPr id="95" name="Google Shape;95;p14"/>
          <p:cNvSpPr txBox="1"/>
          <p:nvPr/>
        </p:nvSpPr>
        <p:spPr>
          <a:xfrm>
            <a:off x="1069173" y="3021588"/>
            <a:ext cx="4445400" cy="238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50" u="none" cap="none" strike="noStrike">
                <a:solidFill>
                  <a:srgbClr val="475569"/>
                </a:solidFill>
                <a:latin typeface="Lato"/>
                <a:ea typeface="Lato"/>
                <a:cs typeface="Lato"/>
                <a:sym typeface="Lato"/>
              </a:rPr>
              <a:t>02</a:t>
            </a:r>
            <a:r>
              <a:rPr b="0" i="0" lang="en-US" sz="1550" u="none" cap="none" strike="noStrike">
                <a:solidFill>
                  <a:srgbClr val="475569"/>
                </a:solidFill>
                <a:latin typeface="Lato"/>
                <a:ea typeface="Lato"/>
                <a:cs typeface="Lato"/>
                <a:sym typeface="Lato"/>
              </a:rPr>
              <a:t>   Dataset Description &amp; Data Collection</a:t>
            </a:r>
            <a:endParaRPr sz="1550"/>
          </a:p>
        </p:txBody>
      </p:sp>
      <p:sp>
        <p:nvSpPr>
          <p:cNvPr id="96" name="Google Shape;96;p14"/>
          <p:cNvSpPr txBox="1"/>
          <p:nvPr/>
        </p:nvSpPr>
        <p:spPr>
          <a:xfrm>
            <a:off x="1069173" y="3421638"/>
            <a:ext cx="4445400" cy="238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50" u="none" cap="none" strike="noStrike">
                <a:solidFill>
                  <a:srgbClr val="475569"/>
                </a:solidFill>
                <a:latin typeface="Lato"/>
                <a:ea typeface="Lato"/>
                <a:cs typeface="Lato"/>
                <a:sym typeface="Lato"/>
              </a:rPr>
              <a:t>03</a:t>
            </a:r>
            <a:r>
              <a:rPr b="0" i="0" lang="en-US" sz="1550" u="none" cap="none" strike="noStrike">
                <a:solidFill>
                  <a:srgbClr val="475569"/>
                </a:solidFill>
                <a:latin typeface="Lato"/>
                <a:ea typeface="Lato"/>
                <a:cs typeface="Lato"/>
                <a:sym typeface="Lato"/>
              </a:rPr>
              <a:t>   Data Preprocessing &amp; Cleaning</a:t>
            </a:r>
            <a:endParaRPr sz="1550"/>
          </a:p>
        </p:txBody>
      </p:sp>
      <p:sp>
        <p:nvSpPr>
          <p:cNvPr id="97" name="Google Shape;97;p14"/>
          <p:cNvSpPr txBox="1"/>
          <p:nvPr/>
        </p:nvSpPr>
        <p:spPr>
          <a:xfrm>
            <a:off x="1069173" y="3821688"/>
            <a:ext cx="4445400" cy="238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50" u="none" cap="none" strike="noStrike">
                <a:solidFill>
                  <a:srgbClr val="475569"/>
                </a:solidFill>
                <a:latin typeface="Lato"/>
                <a:ea typeface="Lato"/>
                <a:cs typeface="Lato"/>
                <a:sym typeface="Lato"/>
              </a:rPr>
              <a:t>04</a:t>
            </a:r>
            <a:r>
              <a:rPr b="0" i="0" lang="en-US" sz="1550" u="none" cap="none" strike="noStrike">
                <a:solidFill>
                  <a:srgbClr val="475569"/>
                </a:solidFill>
                <a:latin typeface="Lato"/>
                <a:ea typeface="Lato"/>
                <a:cs typeface="Lato"/>
                <a:sym typeface="Lato"/>
              </a:rPr>
              <a:t>   Numerical Summaries </a:t>
            </a:r>
            <a:endParaRPr sz="1550"/>
          </a:p>
        </p:txBody>
      </p:sp>
      <p:sp>
        <p:nvSpPr>
          <p:cNvPr id="98" name="Google Shape;98;p14"/>
          <p:cNvSpPr txBox="1"/>
          <p:nvPr/>
        </p:nvSpPr>
        <p:spPr>
          <a:xfrm>
            <a:off x="6829893" y="2621538"/>
            <a:ext cx="4445400" cy="257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550" u="none" cap="none" strike="noStrike">
                <a:solidFill>
                  <a:srgbClr val="475569"/>
                </a:solidFill>
                <a:latin typeface="Lato"/>
                <a:ea typeface="Lato"/>
                <a:cs typeface="Lato"/>
                <a:sym typeface="Lato"/>
              </a:rPr>
              <a:t>05</a:t>
            </a:r>
            <a:r>
              <a:rPr b="0" i="0" lang="en-US" sz="1550" u="none" cap="none" strike="noStrike">
                <a:solidFill>
                  <a:srgbClr val="475569"/>
                </a:solidFill>
                <a:latin typeface="Lato"/>
                <a:ea typeface="Lato"/>
                <a:cs typeface="Lato"/>
                <a:sym typeface="Lato"/>
              </a:rPr>
              <a:t>   Visual Data Exploration</a:t>
            </a:r>
            <a:endParaRPr sz="1550"/>
          </a:p>
        </p:txBody>
      </p:sp>
      <p:sp>
        <p:nvSpPr>
          <p:cNvPr id="99" name="Google Shape;99;p14"/>
          <p:cNvSpPr txBox="1"/>
          <p:nvPr/>
        </p:nvSpPr>
        <p:spPr>
          <a:xfrm>
            <a:off x="6829893" y="3021588"/>
            <a:ext cx="4445400" cy="257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550" u="none" cap="none" strike="noStrike">
                <a:solidFill>
                  <a:srgbClr val="475569"/>
                </a:solidFill>
                <a:latin typeface="Lato"/>
                <a:ea typeface="Lato"/>
                <a:cs typeface="Lato"/>
                <a:sym typeface="Lato"/>
              </a:rPr>
              <a:t>06</a:t>
            </a:r>
            <a:r>
              <a:rPr b="0" i="0" lang="en-US" sz="1550" u="none" cap="none" strike="noStrike">
                <a:solidFill>
                  <a:srgbClr val="475569"/>
                </a:solidFill>
                <a:latin typeface="Lato"/>
                <a:ea typeface="Lato"/>
                <a:cs typeface="Lato"/>
                <a:sym typeface="Lato"/>
              </a:rPr>
              <a:t>   Statistical Inference — Hypothesis Testing</a:t>
            </a:r>
            <a:endParaRPr sz="1550"/>
          </a:p>
        </p:txBody>
      </p:sp>
      <p:sp>
        <p:nvSpPr>
          <p:cNvPr id="100" name="Google Shape;100;p14"/>
          <p:cNvSpPr txBox="1"/>
          <p:nvPr/>
        </p:nvSpPr>
        <p:spPr>
          <a:xfrm>
            <a:off x="6829893" y="3421638"/>
            <a:ext cx="4445400" cy="257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550" u="none" cap="none" strike="noStrike">
                <a:solidFill>
                  <a:srgbClr val="475569"/>
                </a:solidFill>
                <a:latin typeface="Lato"/>
                <a:ea typeface="Lato"/>
                <a:cs typeface="Lato"/>
                <a:sym typeface="Lato"/>
              </a:rPr>
              <a:t>07</a:t>
            </a:r>
            <a:r>
              <a:rPr b="0" i="0" lang="en-US" sz="1550" u="none" cap="none" strike="noStrike">
                <a:solidFill>
                  <a:srgbClr val="475569"/>
                </a:solidFill>
                <a:latin typeface="Lato"/>
                <a:ea typeface="Lato"/>
                <a:cs typeface="Lato"/>
                <a:sym typeface="Lato"/>
              </a:rPr>
              <a:t>   Confidence Intervals for Mean &amp; Variance</a:t>
            </a:r>
            <a:endParaRPr sz="1550"/>
          </a:p>
        </p:txBody>
      </p:sp>
      <p:sp>
        <p:nvSpPr>
          <p:cNvPr id="101" name="Google Shape;101;p14"/>
          <p:cNvSpPr txBox="1"/>
          <p:nvPr/>
        </p:nvSpPr>
        <p:spPr>
          <a:xfrm>
            <a:off x="6829893" y="3821688"/>
            <a:ext cx="4445400" cy="2571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550" u="none" cap="none" strike="noStrike">
                <a:solidFill>
                  <a:srgbClr val="475569"/>
                </a:solidFill>
                <a:latin typeface="Lato"/>
                <a:ea typeface="Lato"/>
                <a:cs typeface="Lato"/>
                <a:sym typeface="Lato"/>
              </a:rPr>
              <a:t>08</a:t>
            </a:r>
            <a:r>
              <a:rPr b="0" i="0" lang="en-US" sz="1550" u="none" cap="none" strike="noStrike">
                <a:solidFill>
                  <a:srgbClr val="475569"/>
                </a:solidFill>
                <a:latin typeface="Lato"/>
                <a:ea typeface="Lato"/>
                <a:cs typeface="Lato"/>
                <a:sym typeface="Lato"/>
              </a:rPr>
              <a:t>   Discussion: Findings, Next Steps &amp; Roadmap</a:t>
            </a:r>
            <a:endParaRPr sz="1550"/>
          </a:p>
        </p:txBody>
      </p:sp>
      <p:sp>
        <p:nvSpPr>
          <p:cNvPr id="102" name="Google Shape;102;p14"/>
          <p:cNvSpPr txBox="1"/>
          <p:nvPr/>
        </p:nvSpPr>
        <p:spPr>
          <a:xfrm>
            <a:off x="571500" y="714375"/>
            <a:ext cx="11601600" cy="469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50" u="none" cap="none" strike="noStrike">
                <a:solidFill>
                  <a:srgbClr val="021B2E"/>
                </a:solidFill>
                <a:latin typeface="Poppins SemiBold"/>
                <a:ea typeface="Poppins SemiBold"/>
                <a:cs typeface="Poppins SemiBold"/>
                <a:sym typeface="Poppins SemiBold"/>
              </a:rPr>
              <a:t>Presentation Outline</a:t>
            </a:r>
            <a:endParaRPr sz="1600"/>
          </a:p>
        </p:txBody>
      </p:sp>
      <p:pic>
        <p:nvPicPr>
          <p:cNvPr descr="image.png" id="103" name="Google Shape;103;p14"/>
          <p:cNvPicPr preferRelativeResize="0"/>
          <p:nvPr/>
        </p:nvPicPr>
        <p:blipFill rotWithShape="1">
          <a:blip r:embed="rId6">
            <a:alphaModFix/>
          </a:blip>
          <a:srcRect b="0" l="0" r="0" t="0"/>
          <a:stretch/>
        </p:blipFill>
        <p:spPr>
          <a:xfrm>
            <a:off x="829143" y="2640588"/>
            <a:ext cx="86411" cy="180975"/>
          </a:xfrm>
          <a:prstGeom prst="rect">
            <a:avLst/>
          </a:prstGeom>
          <a:noFill/>
          <a:ln>
            <a:noFill/>
          </a:ln>
        </p:spPr>
      </p:pic>
      <p:pic>
        <p:nvPicPr>
          <p:cNvPr descr="image.png" id="104" name="Google Shape;104;p14"/>
          <p:cNvPicPr preferRelativeResize="0"/>
          <p:nvPr/>
        </p:nvPicPr>
        <p:blipFill rotWithShape="1">
          <a:blip r:embed="rId6">
            <a:alphaModFix/>
          </a:blip>
          <a:srcRect b="0" l="0" r="0" t="0"/>
          <a:stretch/>
        </p:blipFill>
        <p:spPr>
          <a:xfrm>
            <a:off x="829143" y="3040638"/>
            <a:ext cx="86411" cy="180975"/>
          </a:xfrm>
          <a:prstGeom prst="rect">
            <a:avLst/>
          </a:prstGeom>
          <a:noFill/>
          <a:ln>
            <a:noFill/>
          </a:ln>
        </p:spPr>
      </p:pic>
      <p:pic>
        <p:nvPicPr>
          <p:cNvPr descr="image.png" id="105" name="Google Shape;105;p14"/>
          <p:cNvPicPr preferRelativeResize="0"/>
          <p:nvPr/>
        </p:nvPicPr>
        <p:blipFill rotWithShape="1">
          <a:blip r:embed="rId6">
            <a:alphaModFix/>
          </a:blip>
          <a:srcRect b="0" l="0" r="0" t="0"/>
          <a:stretch/>
        </p:blipFill>
        <p:spPr>
          <a:xfrm>
            <a:off x="829143" y="3440688"/>
            <a:ext cx="86411" cy="180975"/>
          </a:xfrm>
          <a:prstGeom prst="rect">
            <a:avLst/>
          </a:prstGeom>
          <a:noFill/>
          <a:ln>
            <a:noFill/>
          </a:ln>
        </p:spPr>
      </p:pic>
      <p:pic>
        <p:nvPicPr>
          <p:cNvPr descr="image.png" id="106" name="Google Shape;106;p14"/>
          <p:cNvPicPr preferRelativeResize="0"/>
          <p:nvPr/>
        </p:nvPicPr>
        <p:blipFill rotWithShape="1">
          <a:blip r:embed="rId6">
            <a:alphaModFix/>
          </a:blip>
          <a:srcRect b="0" l="0" r="0" t="0"/>
          <a:stretch/>
        </p:blipFill>
        <p:spPr>
          <a:xfrm>
            <a:off x="829143" y="3840738"/>
            <a:ext cx="86411" cy="180975"/>
          </a:xfrm>
          <a:prstGeom prst="rect">
            <a:avLst/>
          </a:prstGeom>
          <a:noFill/>
          <a:ln>
            <a:noFill/>
          </a:ln>
        </p:spPr>
      </p:pic>
      <p:pic>
        <p:nvPicPr>
          <p:cNvPr descr="image.png" id="107" name="Google Shape;107;p14"/>
          <p:cNvPicPr preferRelativeResize="0"/>
          <p:nvPr/>
        </p:nvPicPr>
        <p:blipFill rotWithShape="1">
          <a:blip r:embed="rId6">
            <a:alphaModFix/>
          </a:blip>
          <a:srcRect b="0" l="0" r="0" t="0"/>
          <a:stretch/>
        </p:blipFill>
        <p:spPr>
          <a:xfrm>
            <a:off x="6589863" y="2640588"/>
            <a:ext cx="86411" cy="180975"/>
          </a:xfrm>
          <a:prstGeom prst="rect">
            <a:avLst/>
          </a:prstGeom>
          <a:noFill/>
          <a:ln>
            <a:noFill/>
          </a:ln>
        </p:spPr>
      </p:pic>
      <p:pic>
        <p:nvPicPr>
          <p:cNvPr descr="image.png" id="108" name="Google Shape;108;p14"/>
          <p:cNvPicPr preferRelativeResize="0"/>
          <p:nvPr/>
        </p:nvPicPr>
        <p:blipFill rotWithShape="1">
          <a:blip r:embed="rId6">
            <a:alphaModFix/>
          </a:blip>
          <a:srcRect b="0" l="0" r="0" t="0"/>
          <a:stretch/>
        </p:blipFill>
        <p:spPr>
          <a:xfrm>
            <a:off x="6589863" y="3040638"/>
            <a:ext cx="86411" cy="180975"/>
          </a:xfrm>
          <a:prstGeom prst="rect">
            <a:avLst/>
          </a:prstGeom>
          <a:noFill/>
          <a:ln>
            <a:noFill/>
          </a:ln>
        </p:spPr>
      </p:pic>
      <p:pic>
        <p:nvPicPr>
          <p:cNvPr descr="image.png" id="109" name="Google Shape;109;p14"/>
          <p:cNvPicPr preferRelativeResize="0"/>
          <p:nvPr/>
        </p:nvPicPr>
        <p:blipFill rotWithShape="1">
          <a:blip r:embed="rId6">
            <a:alphaModFix/>
          </a:blip>
          <a:srcRect b="0" l="0" r="0" t="0"/>
          <a:stretch/>
        </p:blipFill>
        <p:spPr>
          <a:xfrm>
            <a:off x="6589863" y="3440688"/>
            <a:ext cx="86411" cy="180975"/>
          </a:xfrm>
          <a:prstGeom prst="rect">
            <a:avLst/>
          </a:prstGeom>
          <a:noFill/>
          <a:ln>
            <a:noFill/>
          </a:ln>
        </p:spPr>
      </p:pic>
      <p:pic>
        <p:nvPicPr>
          <p:cNvPr descr="image.png" id="110" name="Google Shape;110;p14"/>
          <p:cNvPicPr preferRelativeResize="0"/>
          <p:nvPr/>
        </p:nvPicPr>
        <p:blipFill rotWithShape="1">
          <a:blip r:embed="rId6">
            <a:alphaModFix/>
          </a:blip>
          <a:srcRect b="0" l="0" r="0" t="0"/>
          <a:stretch/>
        </p:blipFill>
        <p:spPr>
          <a:xfrm>
            <a:off x="6589863" y="3840738"/>
            <a:ext cx="86411" cy="180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descr="image.png" id="115" name="Google Shape;115;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6" name="Google Shape;116;p15"/>
          <p:cNvPicPr preferRelativeResize="0"/>
          <p:nvPr/>
        </p:nvPicPr>
        <p:blipFill rotWithShape="1">
          <a:blip r:embed="rId4">
            <a:alphaModFix/>
          </a:blip>
          <a:srcRect b="0" l="0" r="0" t="0"/>
          <a:stretch/>
        </p:blipFill>
        <p:spPr>
          <a:xfrm>
            <a:off x="571500" y="1590675"/>
            <a:ext cx="11049000" cy="895350"/>
          </a:xfrm>
          <a:prstGeom prst="rect">
            <a:avLst/>
          </a:prstGeom>
          <a:noFill/>
          <a:ln>
            <a:noFill/>
          </a:ln>
        </p:spPr>
      </p:pic>
      <p:pic>
        <p:nvPicPr>
          <p:cNvPr descr="image.png" id="117" name="Google Shape;117;p15"/>
          <p:cNvPicPr preferRelativeResize="0"/>
          <p:nvPr/>
        </p:nvPicPr>
        <p:blipFill rotWithShape="1">
          <a:blip r:embed="rId5">
            <a:alphaModFix/>
          </a:blip>
          <a:srcRect b="0" l="0" r="0" t="0"/>
          <a:stretch/>
        </p:blipFill>
        <p:spPr>
          <a:xfrm>
            <a:off x="571500" y="2771775"/>
            <a:ext cx="3492549" cy="3514725"/>
          </a:xfrm>
          <a:prstGeom prst="rect">
            <a:avLst/>
          </a:prstGeom>
          <a:noFill/>
          <a:ln>
            <a:noFill/>
          </a:ln>
        </p:spPr>
      </p:pic>
      <p:pic>
        <p:nvPicPr>
          <p:cNvPr descr="image.png" id="118" name="Google Shape;118;p15"/>
          <p:cNvPicPr preferRelativeResize="0"/>
          <p:nvPr/>
        </p:nvPicPr>
        <p:blipFill rotWithShape="1">
          <a:blip r:embed="rId6">
            <a:alphaModFix/>
          </a:blip>
          <a:srcRect b="0" l="0" r="0" t="0"/>
          <a:stretch/>
        </p:blipFill>
        <p:spPr>
          <a:xfrm>
            <a:off x="4349799" y="2771775"/>
            <a:ext cx="3492549" cy="3514725"/>
          </a:xfrm>
          <a:prstGeom prst="rect">
            <a:avLst/>
          </a:prstGeom>
          <a:noFill/>
          <a:ln>
            <a:noFill/>
          </a:ln>
        </p:spPr>
      </p:pic>
      <p:pic>
        <p:nvPicPr>
          <p:cNvPr descr="image.png" id="119" name="Google Shape;119;p15"/>
          <p:cNvPicPr preferRelativeResize="0"/>
          <p:nvPr/>
        </p:nvPicPr>
        <p:blipFill rotWithShape="1">
          <a:blip r:embed="rId7">
            <a:alphaModFix/>
          </a:blip>
          <a:srcRect b="0" l="0" r="0" t="0"/>
          <a:stretch/>
        </p:blipFill>
        <p:spPr>
          <a:xfrm>
            <a:off x="8128099" y="2771775"/>
            <a:ext cx="3492549" cy="3514725"/>
          </a:xfrm>
          <a:prstGeom prst="rect">
            <a:avLst/>
          </a:prstGeom>
          <a:noFill/>
          <a:ln>
            <a:noFill/>
          </a:ln>
        </p:spPr>
      </p:pic>
      <p:sp>
        <p:nvSpPr>
          <p:cNvPr id="120" name="Google Shape;120;p15"/>
          <p:cNvSpPr txBox="1"/>
          <p:nvPr/>
        </p:nvSpPr>
        <p:spPr>
          <a:xfrm>
            <a:off x="819150" y="1781175"/>
            <a:ext cx="1061085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02C39A"/>
                </a:solidFill>
                <a:latin typeface="Lato"/>
                <a:ea typeface="Lato"/>
                <a:cs typeface="Lato"/>
                <a:sym typeface="Lato"/>
              </a:rPr>
              <a:t>CORE PROBLEM: </a:t>
            </a:r>
            <a:r>
              <a:rPr b="0" i="0" lang="en-US" sz="1350" u="none" cap="none" strike="noStrike">
                <a:solidFill>
                  <a:srgbClr val="EFF8FF"/>
                </a:solidFill>
                <a:latin typeface="Lato"/>
                <a:ea typeface="Lato"/>
                <a:cs typeface="Lato"/>
                <a:sym typeface="Lato"/>
              </a:rPr>
              <a:t>Li-ion batteries degrade over repeated charge/discharge cycles, leading to capacity loss and eventual failure. Predicting when a battery will fail is critical for safety-critical applications like EVs, aerospace, and medical devices.</a:t>
            </a:r>
            <a:endParaRPr/>
          </a:p>
        </p:txBody>
      </p:sp>
      <p:sp>
        <p:nvSpPr>
          <p:cNvPr id="121" name="Google Shape;121;p15"/>
          <p:cNvSpPr txBox="1"/>
          <p:nvPr/>
        </p:nvSpPr>
        <p:spPr>
          <a:xfrm>
            <a:off x="866775" y="3762375"/>
            <a:ext cx="2550318"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D3B66"/>
                </a:solidFill>
                <a:latin typeface="Poppins SemiBold"/>
                <a:ea typeface="Poppins SemiBold"/>
                <a:cs typeface="Poppins SemiBold"/>
                <a:sym typeface="Poppins SemiBold"/>
              </a:rPr>
              <a:t>Statistical Analysis</a:t>
            </a:r>
            <a:endParaRPr/>
          </a:p>
        </p:txBody>
      </p:sp>
      <p:sp>
        <p:nvSpPr>
          <p:cNvPr id="122" name="Google Shape;122;p15"/>
          <p:cNvSpPr txBox="1"/>
          <p:nvPr/>
        </p:nvSpPr>
        <p:spPr>
          <a:xfrm>
            <a:off x="866775" y="4248150"/>
            <a:ext cx="2901900" cy="892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450" u="none" cap="none" strike="noStrike">
                <a:solidFill>
                  <a:srgbClr val="475569"/>
                </a:solidFill>
                <a:latin typeface="Lato"/>
                <a:ea typeface="Lato"/>
                <a:cs typeface="Lato"/>
                <a:sym typeface="Lato"/>
              </a:rPr>
              <a:t>Understand the variability of battery capacity using descriptive statistics and hypothesis testing.</a:t>
            </a:r>
            <a:endParaRPr sz="1500"/>
          </a:p>
        </p:txBody>
      </p:sp>
      <p:sp>
        <p:nvSpPr>
          <p:cNvPr id="123" name="Google Shape;123;p15"/>
          <p:cNvSpPr txBox="1"/>
          <p:nvPr/>
        </p:nvSpPr>
        <p:spPr>
          <a:xfrm>
            <a:off x="4645074" y="3762375"/>
            <a:ext cx="25803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D3B66"/>
                </a:solidFill>
                <a:latin typeface="Poppins SemiBold"/>
                <a:ea typeface="Poppins SemiBold"/>
                <a:cs typeface="Poppins SemiBold"/>
                <a:sym typeface="Poppins SemiBold"/>
              </a:rPr>
              <a:t>Identify </a:t>
            </a:r>
            <a:r>
              <a:rPr lang="en-US" sz="1950">
                <a:solidFill>
                  <a:srgbClr val="0D3B66"/>
                </a:solidFill>
                <a:latin typeface="Poppins SemiBold"/>
                <a:ea typeface="Poppins SemiBold"/>
                <a:cs typeface="Poppins SemiBold"/>
                <a:sym typeface="Poppins SemiBold"/>
              </a:rPr>
              <a:t>Target </a:t>
            </a:r>
            <a:endParaRPr/>
          </a:p>
        </p:txBody>
      </p:sp>
      <p:sp>
        <p:nvSpPr>
          <p:cNvPr id="124" name="Google Shape;124;p15"/>
          <p:cNvSpPr txBox="1"/>
          <p:nvPr/>
        </p:nvSpPr>
        <p:spPr>
          <a:xfrm>
            <a:off x="4645074" y="4248150"/>
            <a:ext cx="2901900" cy="892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450" u="none" cap="none" strike="noStrike">
                <a:solidFill>
                  <a:srgbClr val="475569"/>
                </a:solidFill>
                <a:latin typeface="Lato"/>
                <a:ea typeface="Lato"/>
                <a:cs typeface="Lato"/>
                <a:sym typeface="Lato"/>
              </a:rPr>
              <a:t>Determine which factors — temperature, cycle number, health class — significantly affect capacity.</a:t>
            </a:r>
            <a:endParaRPr sz="1500"/>
          </a:p>
        </p:txBody>
      </p:sp>
      <p:sp>
        <p:nvSpPr>
          <p:cNvPr id="125" name="Google Shape;125;p15"/>
          <p:cNvSpPr txBox="1"/>
          <p:nvPr/>
        </p:nvSpPr>
        <p:spPr>
          <a:xfrm>
            <a:off x="8423375" y="3762375"/>
            <a:ext cx="30471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D3B66"/>
                </a:solidFill>
                <a:latin typeface="Poppins SemiBold"/>
                <a:ea typeface="Poppins SemiBold"/>
                <a:cs typeface="Poppins SemiBold"/>
                <a:sym typeface="Poppins SemiBold"/>
              </a:rPr>
              <a:t>Build Predictive Models</a:t>
            </a:r>
            <a:endParaRPr/>
          </a:p>
        </p:txBody>
      </p:sp>
      <p:sp>
        <p:nvSpPr>
          <p:cNvPr id="126" name="Google Shape;126;p15"/>
          <p:cNvSpPr txBox="1"/>
          <p:nvPr/>
        </p:nvSpPr>
        <p:spPr>
          <a:xfrm>
            <a:off x="8423374" y="4328375"/>
            <a:ext cx="2901900" cy="892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450" u="none" cap="none" strike="noStrike">
                <a:solidFill>
                  <a:srgbClr val="475569"/>
                </a:solidFill>
                <a:latin typeface="Lato"/>
                <a:ea typeface="Lato"/>
                <a:cs typeface="Lato"/>
                <a:sym typeface="Lato"/>
              </a:rPr>
              <a:t>Use Phase 1 insights to train ML models (Phase 2) for regression, classification, and clustering.</a:t>
            </a:r>
            <a:endParaRPr sz="1500"/>
          </a:p>
        </p:txBody>
      </p:sp>
      <p:pic>
        <p:nvPicPr>
          <p:cNvPr descr="image.png" id="127" name="Google Shape;127;p15"/>
          <p:cNvPicPr preferRelativeResize="0"/>
          <p:nvPr/>
        </p:nvPicPr>
        <p:blipFill rotWithShape="1">
          <a:blip r:embed="rId8">
            <a:alphaModFix/>
          </a:blip>
          <a:srcRect b="0" l="0" r="0" t="0"/>
          <a:stretch/>
        </p:blipFill>
        <p:spPr>
          <a:xfrm>
            <a:off x="866775" y="3152775"/>
            <a:ext cx="381000" cy="381000"/>
          </a:xfrm>
          <a:prstGeom prst="rect">
            <a:avLst/>
          </a:prstGeom>
          <a:noFill/>
          <a:ln>
            <a:noFill/>
          </a:ln>
        </p:spPr>
      </p:pic>
      <p:pic>
        <p:nvPicPr>
          <p:cNvPr descr="image.png" id="128" name="Google Shape;128;p15"/>
          <p:cNvPicPr preferRelativeResize="0"/>
          <p:nvPr/>
        </p:nvPicPr>
        <p:blipFill rotWithShape="1">
          <a:blip r:embed="rId9">
            <a:alphaModFix/>
          </a:blip>
          <a:srcRect b="0" l="0" r="0" t="0"/>
          <a:stretch/>
        </p:blipFill>
        <p:spPr>
          <a:xfrm>
            <a:off x="4645074" y="3152775"/>
            <a:ext cx="381000" cy="381000"/>
          </a:xfrm>
          <a:prstGeom prst="rect">
            <a:avLst/>
          </a:prstGeom>
          <a:noFill/>
          <a:ln>
            <a:noFill/>
          </a:ln>
        </p:spPr>
      </p:pic>
      <p:pic>
        <p:nvPicPr>
          <p:cNvPr descr="image.png" id="129" name="Google Shape;129;p15"/>
          <p:cNvPicPr preferRelativeResize="0"/>
          <p:nvPr/>
        </p:nvPicPr>
        <p:blipFill rotWithShape="1">
          <a:blip r:embed="rId10">
            <a:alphaModFix/>
          </a:blip>
          <a:srcRect b="0" l="0" r="0" t="0"/>
          <a:stretch/>
        </p:blipFill>
        <p:spPr>
          <a:xfrm>
            <a:off x="8423374" y="3152775"/>
            <a:ext cx="476250" cy="381000"/>
          </a:xfrm>
          <a:prstGeom prst="rect">
            <a:avLst/>
          </a:prstGeom>
          <a:noFill/>
          <a:ln>
            <a:noFill/>
          </a:ln>
        </p:spPr>
      </p:pic>
      <p:sp>
        <p:nvSpPr>
          <p:cNvPr id="130" name="Google Shape;130;p15"/>
          <p:cNvSpPr txBox="1"/>
          <p:nvPr/>
        </p:nvSpPr>
        <p:spPr>
          <a:xfrm>
            <a:off x="571500" y="714375"/>
            <a:ext cx="11601450"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21B2E"/>
                </a:solidFill>
                <a:latin typeface="Poppins SemiBold"/>
                <a:ea typeface="Poppins SemiBold"/>
                <a:cs typeface="Poppins SemiBold"/>
                <a:sym typeface="Poppins SemiBold"/>
              </a:rPr>
              <a:t>Project Objective &amp; Problem Statement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descr="image.png" id="135" name="Google Shape;135;p16"/>
          <p:cNvPicPr preferRelativeResize="0"/>
          <p:nvPr/>
        </p:nvPicPr>
        <p:blipFill rotWithShape="1">
          <a:blip r:embed="rId3">
            <a:alphaModFix/>
          </a:blip>
          <a:srcRect b="0" l="0" r="0" t="0"/>
          <a:stretch/>
        </p:blipFill>
        <p:spPr>
          <a:xfrm>
            <a:off x="0" y="-7872"/>
            <a:ext cx="12192000" cy="6858000"/>
          </a:xfrm>
          <a:prstGeom prst="rect">
            <a:avLst/>
          </a:prstGeom>
          <a:noFill/>
          <a:ln>
            <a:noFill/>
          </a:ln>
        </p:spPr>
      </p:pic>
      <p:pic>
        <p:nvPicPr>
          <p:cNvPr descr="image.png" id="136" name="Google Shape;136;p16"/>
          <p:cNvPicPr preferRelativeResize="0"/>
          <p:nvPr/>
        </p:nvPicPr>
        <p:blipFill rotWithShape="1">
          <a:blip r:embed="rId4">
            <a:alphaModFix/>
          </a:blip>
          <a:srcRect b="0" l="0" r="0" t="0"/>
          <a:stretch/>
        </p:blipFill>
        <p:spPr>
          <a:xfrm>
            <a:off x="571500" y="1590675"/>
            <a:ext cx="5334000" cy="4695825"/>
          </a:xfrm>
          <a:prstGeom prst="rect">
            <a:avLst/>
          </a:prstGeom>
          <a:noFill/>
          <a:ln>
            <a:noFill/>
          </a:ln>
        </p:spPr>
      </p:pic>
      <p:pic>
        <p:nvPicPr>
          <p:cNvPr descr="image.png" id="137" name="Google Shape;137;p16"/>
          <p:cNvPicPr preferRelativeResize="0"/>
          <p:nvPr/>
        </p:nvPicPr>
        <p:blipFill rotWithShape="1">
          <a:blip r:embed="rId5">
            <a:alphaModFix/>
          </a:blip>
          <a:srcRect b="0" l="0" r="0" t="0"/>
          <a:stretch/>
        </p:blipFill>
        <p:spPr>
          <a:xfrm>
            <a:off x="6286500" y="1590675"/>
            <a:ext cx="5334000" cy="4695825"/>
          </a:xfrm>
          <a:prstGeom prst="rect">
            <a:avLst/>
          </a:prstGeom>
          <a:noFill/>
          <a:ln>
            <a:noFill/>
          </a:ln>
        </p:spPr>
      </p:pic>
      <p:sp>
        <p:nvSpPr>
          <p:cNvPr id="138" name="Google Shape;138;p16"/>
          <p:cNvSpPr txBox="1"/>
          <p:nvPr/>
        </p:nvSpPr>
        <p:spPr>
          <a:xfrm>
            <a:off x="914400" y="1933575"/>
            <a:ext cx="4880610" cy="3905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D3B66"/>
                </a:solidFill>
                <a:latin typeface="Poppins SemiBold"/>
                <a:ea typeface="Poppins SemiBold"/>
                <a:cs typeface="Poppins SemiBold"/>
                <a:sym typeface="Poppins SemiBold"/>
              </a:rPr>
              <a:t>NASA Li-ion Battery Dataset</a:t>
            </a:r>
            <a:endParaRPr/>
          </a:p>
        </p:txBody>
      </p:sp>
      <p:sp>
        <p:nvSpPr>
          <p:cNvPr id="139" name="Google Shape;139;p16"/>
          <p:cNvSpPr/>
          <p:nvPr/>
        </p:nvSpPr>
        <p:spPr>
          <a:xfrm>
            <a:off x="914400" y="2400300"/>
            <a:ext cx="4648200" cy="19050"/>
          </a:xfrm>
          <a:prstGeom prst="rect">
            <a:avLst/>
          </a:prstGeom>
          <a:solidFill>
            <a:srgbClr val="0D3B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16"/>
          <p:cNvSpPr txBox="1"/>
          <p:nvPr/>
        </p:nvSpPr>
        <p:spPr>
          <a:xfrm>
            <a:off x="6629400" y="1933575"/>
            <a:ext cx="4880610" cy="3905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2C39A"/>
                </a:solidFill>
                <a:latin typeface="Poppins SemiBold"/>
                <a:ea typeface="Poppins SemiBold"/>
                <a:cs typeface="Poppins SemiBold"/>
                <a:sym typeface="Poppins SemiBold"/>
              </a:rPr>
              <a:t>Data Collection Method</a:t>
            </a:r>
            <a:endParaRPr/>
          </a:p>
        </p:txBody>
      </p:sp>
      <p:sp>
        <p:nvSpPr>
          <p:cNvPr id="141" name="Google Shape;141;p16"/>
          <p:cNvSpPr/>
          <p:nvPr/>
        </p:nvSpPr>
        <p:spPr>
          <a:xfrm>
            <a:off x="6629400" y="2400300"/>
            <a:ext cx="4648200" cy="19050"/>
          </a:xfrm>
          <a:prstGeom prst="rect">
            <a:avLst/>
          </a:prstGeom>
          <a:solidFill>
            <a:srgbClr val="02C3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16"/>
          <p:cNvSpPr txBox="1"/>
          <p:nvPr/>
        </p:nvSpPr>
        <p:spPr>
          <a:xfrm>
            <a:off x="6629400" y="2533650"/>
            <a:ext cx="4648200" cy="558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1" lang="en-US" sz="1450" u="none" cap="none" strike="noStrike">
                <a:solidFill>
                  <a:schemeClr val="lt1"/>
                </a:solidFill>
                <a:latin typeface="Lato"/>
                <a:ea typeface="Lato"/>
                <a:cs typeface="Lato"/>
                <a:sym typeface="Lato"/>
              </a:rPr>
              <a:t>Retrospective Study</a:t>
            </a:r>
            <a:r>
              <a:rPr b="0" i="1" lang="en-US" sz="1450" u="none" cap="none" strike="noStrike">
                <a:solidFill>
                  <a:schemeClr val="lt1"/>
                </a:solidFill>
                <a:latin typeface="Lato"/>
                <a:ea typeface="Lato"/>
                <a:cs typeface="Lato"/>
                <a:sym typeface="Lato"/>
              </a:rPr>
              <a:t>: </a:t>
            </a:r>
            <a:r>
              <a:rPr b="0" lang="en-US" sz="1450" u="none" cap="none" strike="noStrike">
                <a:solidFill>
                  <a:schemeClr val="lt1"/>
                </a:solidFill>
                <a:latin typeface="Lato"/>
                <a:ea typeface="Lato"/>
                <a:cs typeface="Lato"/>
                <a:sym typeface="Lato"/>
              </a:rPr>
              <a:t>Data was collected in controlled lab experiments, not by</a:t>
            </a:r>
            <a:r>
              <a:rPr lang="en-US" sz="1450">
                <a:solidFill>
                  <a:schemeClr val="lt1"/>
                </a:solidFill>
                <a:latin typeface="Lato"/>
                <a:ea typeface="Lato"/>
                <a:cs typeface="Lato"/>
                <a:sym typeface="Lato"/>
              </a:rPr>
              <a:t> us.</a:t>
            </a:r>
            <a:endParaRPr sz="1500">
              <a:solidFill>
                <a:schemeClr val="lt1"/>
              </a:solidFill>
            </a:endParaRPr>
          </a:p>
        </p:txBody>
      </p:sp>
      <p:sp>
        <p:nvSpPr>
          <p:cNvPr id="143" name="Google Shape;143;p16"/>
          <p:cNvSpPr txBox="1"/>
          <p:nvPr/>
        </p:nvSpPr>
        <p:spPr>
          <a:xfrm>
            <a:off x="1152525" y="2533650"/>
            <a:ext cx="4410000" cy="223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rgbClr val="475569"/>
                </a:solidFill>
                <a:latin typeface="Lato"/>
                <a:ea typeface="Lato"/>
                <a:cs typeface="Lato"/>
                <a:sym typeface="Lato"/>
              </a:rPr>
              <a:t>Source:</a:t>
            </a:r>
            <a:r>
              <a:rPr b="0" i="0" lang="en-US" sz="1450" u="none" cap="none" strike="noStrike">
                <a:solidFill>
                  <a:srgbClr val="475569"/>
                </a:solidFill>
                <a:latin typeface="Lato"/>
                <a:ea typeface="Lato"/>
                <a:cs typeface="Lato"/>
                <a:sym typeface="Lato"/>
              </a:rPr>
              <a:t> </a:t>
            </a:r>
            <a:r>
              <a:rPr b="0" i="0" lang="en-US" sz="1450" u="sng" cap="none" strike="noStrike">
                <a:solidFill>
                  <a:schemeClr val="hlink"/>
                </a:solidFill>
                <a:latin typeface="Lato"/>
                <a:ea typeface="Lato"/>
                <a:cs typeface="Lato"/>
                <a:sym typeface="Lato"/>
                <a:hlinkClick r:id="rId6"/>
              </a:rPr>
              <a:t>NASA Prognostics Center of Excellence</a:t>
            </a:r>
            <a:endParaRPr sz="1500"/>
          </a:p>
        </p:txBody>
      </p:sp>
      <p:sp>
        <p:nvSpPr>
          <p:cNvPr id="144" name="Google Shape;144;p16"/>
          <p:cNvSpPr txBox="1"/>
          <p:nvPr/>
        </p:nvSpPr>
        <p:spPr>
          <a:xfrm>
            <a:off x="1152525" y="2933700"/>
            <a:ext cx="4410000" cy="223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rgbClr val="475569"/>
                </a:solidFill>
                <a:latin typeface="Lato"/>
                <a:ea typeface="Lato"/>
                <a:cs typeface="Lato"/>
                <a:sym typeface="Lato"/>
              </a:rPr>
              <a:t>Batteries:</a:t>
            </a:r>
            <a:r>
              <a:rPr b="0" i="0" lang="en-US" sz="1450" u="none" cap="none" strike="noStrike">
                <a:solidFill>
                  <a:srgbClr val="475569"/>
                </a:solidFill>
                <a:latin typeface="Lato"/>
                <a:ea typeface="Lato"/>
                <a:cs typeface="Lato"/>
                <a:sym typeface="Lato"/>
              </a:rPr>
              <a:t> 34 Li-ion cells run to end-of-life</a:t>
            </a:r>
            <a:endParaRPr sz="1500"/>
          </a:p>
        </p:txBody>
      </p:sp>
      <p:sp>
        <p:nvSpPr>
          <p:cNvPr id="145" name="Google Shape;145;p16"/>
          <p:cNvSpPr txBox="1"/>
          <p:nvPr/>
        </p:nvSpPr>
        <p:spPr>
          <a:xfrm>
            <a:off x="1152525" y="3333750"/>
            <a:ext cx="4410000" cy="223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rgbClr val="475569"/>
                </a:solidFill>
                <a:latin typeface="Lato"/>
                <a:ea typeface="Lato"/>
                <a:cs typeface="Lato"/>
                <a:sym typeface="Lato"/>
              </a:rPr>
              <a:t>Observations:</a:t>
            </a:r>
            <a:r>
              <a:rPr b="0" i="0" lang="en-US" sz="1450" u="none" cap="none" strike="noStrike">
                <a:solidFill>
                  <a:srgbClr val="475569"/>
                </a:solidFill>
                <a:latin typeface="Lato"/>
                <a:ea typeface="Lato"/>
                <a:cs typeface="Lato"/>
                <a:sym typeface="Lato"/>
              </a:rPr>
              <a:t> 2,769 discharge cycles</a:t>
            </a:r>
            <a:endParaRPr sz="1500"/>
          </a:p>
        </p:txBody>
      </p:sp>
      <p:sp>
        <p:nvSpPr>
          <p:cNvPr id="146" name="Google Shape;146;p16"/>
          <p:cNvSpPr txBox="1"/>
          <p:nvPr/>
        </p:nvSpPr>
        <p:spPr>
          <a:xfrm>
            <a:off x="1152525" y="3733800"/>
            <a:ext cx="4410000" cy="223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rgbClr val="475569"/>
                </a:solidFill>
                <a:latin typeface="Lato"/>
                <a:ea typeface="Lato"/>
                <a:cs typeface="Lato"/>
                <a:sym typeface="Lato"/>
              </a:rPr>
              <a:t>Features:</a:t>
            </a:r>
            <a:r>
              <a:rPr b="0" i="0" lang="en-US" sz="1450" u="none" cap="none" strike="noStrike">
                <a:solidFill>
                  <a:srgbClr val="475569"/>
                </a:solidFill>
                <a:latin typeface="Lato"/>
                <a:ea typeface="Lato"/>
                <a:cs typeface="Lato"/>
                <a:sym typeface="Lato"/>
              </a:rPr>
              <a:t> 59 cycle-level measurements</a:t>
            </a:r>
            <a:endParaRPr sz="1500"/>
          </a:p>
        </p:txBody>
      </p:sp>
      <p:sp>
        <p:nvSpPr>
          <p:cNvPr id="147" name="Google Shape;147;p16"/>
          <p:cNvSpPr txBox="1"/>
          <p:nvPr/>
        </p:nvSpPr>
        <p:spPr>
          <a:xfrm>
            <a:off x="1152525" y="4133850"/>
            <a:ext cx="4410000" cy="223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rgbClr val="475569"/>
                </a:solidFill>
                <a:latin typeface="Lato"/>
                <a:ea typeface="Lato"/>
                <a:cs typeface="Lato"/>
                <a:sym typeface="Lato"/>
              </a:rPr>
              <a:t>Temperature:</a:t>
            </a:r>
            <a:r>
              <a:rPr b="0" i="0" lang="en-US" sz="1450" u="none" cap="none" strike="noStrike">
                <a:solidFill>
                  <a:srgbClr val="475569"/>
                </a:solidFill>
                <a:latin typeface="Lato"/>
                <a:ea typeface="Lato"/>
                <a:cs typeface="Lato"/>
                <a:sym typeface="Lato"/>
              </a:rPr>
              <a:t> 4°C, 24°C, 43°C, 44°C ambient</a:t>
            </a:r>
            <a:endParaRPr sz="1500"/>
          </a:p>
        </p:txBody>
      </p:sp>
      <p:sp>
        <p:nvSpPr>
          <p:cNvPr id="148" name="Google Shape;148;p16"/>
          <p:cNvSpPr txBox="1"/>
          <p:nvPr/>
        </p:nvSpPr>
        <p:spPr>
          <a:xfrm>
            <a:off x="1152525" y="4533900"/>
            <a:ext cx="4410000" cy="223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rgbClr val="475569"/>
                </a:solidFill>
                <a:latin typeface="Lato"/>
                <a:ea typeface="Lato"/>
                <a:cs typeface="Lato"/>
                <a:sym typeface="Lato"/>
              </a:rPr>
              <a:t>Target Variable:</a:t>
            </a:r>
            <a:r>
              <a:rPr b="0" i="0" lang="en-US" sz="1450" u="none" cap="none" strike="noStrike">
                <a:solidFill>
                  <a:srgbClr val="475569"/>
                </a:solidFill>
                <a:latin typeface="Lato"/>
                <a:ea typeface="Lato"/>
                <a:cs typeface="Lato"/>
                <a:sym typeface="Lato"/>
              </a:rPr>
              <a:t> Capacity (Ah)</a:t>
            </a:r>
            <a:endParaRPr sz="1500"/>
          </a:p>
        </p:txBody>
      </p:sp>
      <p:sp>
        <p:nvSpPr>
          <p:cNvPr id="149" name="Google Shape;149;p16"/>
          <p:cNvSpPr txBox="1"/>
          <p:nvPr/>
        </p:nvSpPr>
        <p:spPr>
          <a:xfrm>
            <a:off x="1152525" y="4933950"/>
            <a:ext cx="4410000" cy="223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rgbClr val="475569"/>
                </a:solidFill>
                <a:latin typeface="Lato"/>
                <a:ea typeface="Lato"/>
                <a:cs typeface="Lato"/>
                <a:sym typeface="Lato"/>
              </a:rPr>
              <a:t>Labels:</a:t>
            </a:r>
            <a:r>
              <a:rPr b="0" i="0" lang="en-US" sz="1450" u="none" cap="none" strike="noStrike">
                <a:solidFill>
                  <a:srgbClr val="475569"/>
                </a:solidFill>
                <a:latin typeface="Lato"/>
                <a:ea typeface="Lato"/>
                <a:cs typeface="Lato"/>
                <a:sym typeface="Lato"/>
              </a:rPr>
              <a:t> Healthy, Degrading</a:t>
            </a:r>
            <a:endParaRPr sz="1500"/>
          </a:p>
        </p:txBody>
      </p:sp>
      <p:sp>
        <p:nvSpPr>
          <p:cNvPr id="150" name="Google Shape;150;p16"/>
          <p:cNvSpPr txBox="1"/>
          <p:nvPr/>
        </p:nvSpPr>
        <p:spPr>
          <a:xfrm>
            <a:off x="6867525" y="3238500"/>
            <a:ext cx="4410000" cy="558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chemeClr val="lt1"/>
                </a:solidFill>
                <a:latin typeface="Lato"/>
                <a:ea typeface="Lato"/>
                <a:cs typeface="Lato"/>
                <a:sym typeface="Lato"/>
              </a:rPr>
              <a:t>Controlled Experiment:</a:t>
            </a:r>
            <a:r>
              <a:rPr b="0" i="0" lang="en-US" sz="1450" u="none" cap="none" strike="noStrike">
                <a:solidFill>
                  <a:schemeClr val="lt1"/>
                </a:solidFill>
                <a:latin typeface="Lato"/>
                <a:ea typeface="Lato"/>
                <a:cs typeface="Lato"/>
                <a:sym typeface="Lato"/>
              </a:rPr>
              <a:t> Cells cycled under fixed charging protocols at known temperatures.</a:t>
            </a:r>
            <a:endParaRPr sz="1500">
              <a:solidFill>
                <a:schemeClr val="lt1"/>
              </a:solidFill>
            </a:endParaRPr>
          </a:p>
        </p:txBody>
      </p:sp>
      <p:sp>
        <p:nvSpPr>
          <p:cNvPr id="151" name="Google Shape;151;p16"/>
          <p:cNvSpPr txBox="1"/>
          <p:nvPr/>
        </p:nvSpPr>
        <p:spPr>
          <a:xfrm>
            <a:off x="6867525" y="3895725"/>
            <a:ext cx="4410000" cy="558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chemeClr val="lt1"/>
                </a:solidFill>
                <a:latin typeface="Lato"/>
                <a:ea typeface="Lato"/>
                <a:cs typeface="Lato"/>
                <a:sym typeface="Lato"/>
              </a:rPr>
              <a:t>Instrumented Measurement:</a:t>
            </a:r>
            <a:r>
              <a:rPr b="0" i="0" lang="en-US" sz="1450" u="none" cap="none" strike="noStrike">
                <a:solidFill>
                  <a:schemeClr val="lt1"/>
                </a:solidFill>
                <a:latin typeface="Lato"/>
                <a:ea typeface="Lato"/>
                <a:cs typeface="Lato"/>
                <a:sym typeface="Lato"/>
              </a:rPr>
              <a:t> Voltage, current, temperature recorded at fixed intervals.</a:t>
            </a:r>
            <a:endParaRPr sz="1500">
              <a:solidFill>
                <a:schemeClr val="lt1"/>
              </a:solidFill>
            </a:endParaRPr>
          </a:p>
        </p:txBody>
      </p:sp>
      <p:sp>
        <p:nvSpPr>
          <p:cNvPr id="152" name="Google Shape;152;p16"/>
          <p:cNvSpPr txBox="1"/>
          <p:nvPr/>
        </p:nvSpPr>
        <p:spPr>
          <a:xfrm>
            <a:off x="6867525" y="4552950"/>
            <a:ext cx="4410000" cy="558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chemeClr val="lt1"/>
                </a:solidFill>
                <a:latin typeface="Lato"/>
                <a:ea typeface="Lato"/>
                <a:cs typeface="Lato"/>
                <a:sym typeface="Lato"/>
              </a:rPr>
              <a:t>Secondary Analysis:</a:t>
            </a:r>
            <a:r>
              <a:rPr b="0" i="0" lang="en-US" sz="1450" u="none" cap="none" strike="noStrike">
                <a:solidFill>
                  <a:schemeClr val="lt1"/>
                </a:solidFill>
                <a:latin typeface="Lato"/>
                <a:ea typeface="Lato"/>
                <a:cs typeface="Lato"/>
                <a:sym typeface="Lato"/>
              </a:rPr>
              <a:t> We apply statistical inference to the pre-existing experimental data.</a:t>
            </a:r>
            <a:endParaRPr sz="1500">
              <a:solidFill>
                <a:schemeClr val="lt1"/>
              </a:solidFill>
            </a:endParaRPr>
          </a:p>
        </p:txBody>
      </p:sp>
      <p:sp>
        <p:nvSpPr>
          <p:cNvPr id="153" name="Google Shape;153;p16"/>
          <p:cNvSpPr txBox="1"/>
          <p:nvPr/>
        </p:nvSpPr>
        <p:spPr>
          <a:xfrm>
            <a:off x="571500" y="714375"/>
            <a:ext cx="11601450"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21B2E"/>
                </a:solidFill>
                <a:latin typeface="Poppins SemiBold"/>
                <a:ea typeface="Poppins SemiBold"/>
                <a:cs typeface="Poppins SemiBold"/>
                <a:sym typeface="Poppins SemiBold"/>
              </a:rPr>
              <a:t>Dataset Description &amp; Data Collection Method</a:t>
            </a:r>
            <a:endParaRPr/>
          </a:p>
        </p:txBody>
      </p:sp>
      <p:pic>
        <p:nvPicPr>
          <p:cNvPr descr="image.png" id="154" name="Google Shape;154;p16"/>
          <p:cNvPicPr preferRelativeResize="0"/>
          <p:nvPr/>
        </p:nvPicPr>
        <p:blipFill rotWithShape="1">
          <a:blip r:embed="rId7">
            <a:alphaModFix/>
          </a:blip>
          <a:srcRect b="0" l="0" r="0" t="0"/>
          <a:stretch/>
        </p:blipFill>
        <p:spPr>
          <a:xfrm>
            <a:off x="914400" y="2552700"/>
            <a:ext cx="85725" cy="180975"/>
          </a:xfrm>
          <a:prstGeom prst="rect">
            <a:avLst/>
          </a:prstGeom>
          <a:noFill/>
          <a:ln>
            <a:noFill/>
          </a:ln>
        </p:spPr>
      </p:pic>
      <p:pic>
        <p:nvPicPr>
          <p:cNvPr descr="image.png" id="155" name="Google Shape;155;p16"/>
          <p:cNvPicPr preferRelativeResize="0"/>
          <p:nvPr/>
        </p:nvPicPr>
        <p:blipFill rotWithShape="1">
          <a:blip r:embed="rId7">
            <a:alphaModFix/>
          </a:blip>
          <a:srcRect b="0" l="0" r="0" t="0"/>
          <a:stretch/>
        </p:blipFill>
        <p:spPr>
          <a:xfrm>
            <a:off x="914400" y="2952750"/>
            <a:ext cx="85725" cy="180975"/>
          </a:xfrm>
          <a:prstGeom prst="rect">
            <a:avLst/>
          </a:prstGeom>
          <a:noFill/>
          <a:ln>
            <a:noFill/>
          </a:ln>
        </p:spPr>
      </p:pic>
      <p:pic>
        <p:nvPicPr>
          <p:cNvPr descr="image.png" id="156" name="Google Shape;156;p16"/>
          <p:cNvPicPr preferRelativeResize="0"/>
          <p:nvPr/>
        </p:nvPicPr>
        <p:blipFill rotWithShape="1">
          <a:blip r:embed="rId7">
            <a:alphaModFix/>
          </a:blip>
          <a:srcRect b="0" l="0" r="0" t="0"/>
          <a:stretch/>
        </p:blipFill>
        <p:spPr>
          <a:xfrm>
            <a:off x="914400" y="3352800"/>
            <a:ext cx="85725" cy="180975"/>
          </a:xfrm>
          <a:prstGeom prst="rect">
            <a:avLst/>
          </a:prstGeom>
          <a:noFill/>
          <a:ln>
            <a:noFill/>
          </a:ln>
        </p:spPr>
      </p:pic>
      <p:pic>
        <p:nvPicPr>
          <p:cNvPr descr="image.png" id="157" name="Google Shape;157;p16"/>
          <p:cNvPicPr preferRelativeResize="0"/>
          <p:nvPr/>
        </p:nvPicPr>
        <p:blipFill rotWithShape="1">
          <a:blip r:embed="rId7">
            <a:alphaModFix/>
          </a:blip>
          <a:srcRect b="0" l="0" r="0" t="0"/>
          <a:stretch/>
        </p:blipFill>
        <p:spPr>
          <a:xfrm>
            <a:off x="914400" y="3752850"/>
            <a:ext cx="85725" cy="180975"/>
          </a:xfrm>
          <a:prstGeom prst="rect">
            <a:avLst/>
          </a:prstGeom>
          <a:noFill/>
          <a:ln>
            <a:noFill/>
          </a:ln>
        </p:spPr>
      </p:pic>
      <p:pic>
        <p:nvPicPr>
          <p:cNvPr descr="image.png" id="158" name="Google Shape;158;p16"/>
          <p:cNvPicPr preferRelativeResize="0"/>
          <p:nvPr/>
        </p:nvPicPr>
        <p:blipFill rotWithShape="1">
          <a:blip r:embed="rId7">
            <a:alphaModFix/>
          </a:blip>
          <a:srcRect b="0" l="0" r="0" t="0"/>
          <a:stretch/>
        </p:blipFill>
        <p:spPr>
          <a:xfrm>
            <a:off x="914400" y="4152900"/>
            <a:ext cx="85725" cy="180975"/>
          </a:xfrm>
          <a:prstGeom prst="rect">
            <a:avLst/>
          </a:prstGeom>
          <a:noFill/>
          <a:ln>
            <a:noFill/>
          </a:ln>
        </p:spPr>
      </p:pic>
      <p:pic>
        <p:nvPicPr>
          <p:cNvPr descr="image.png" id="159" name="Google Shape;159;p16"/>
          <p:cNvPicPr preferRelativeResize="0"/>
          <p:nvPr/>
        </p:nvPicPr>
        <p:blipFill rotWithShape="1">
          <a:blip r:embed="rId7">
            <a:alphaModFix/>
          </a:blip>
          <a:srcRect b="0" l="0" r="0" t="0"/>
          <a:stretch/>
        </p:blipFill>
        <p:spPr>
          <a:xfrm>
            <a:off x="914400" y="4552950"/>
            <a:ext cx="85725" cy="180975"/>
          </a:xfrm>
          <a:prstGeom prst="rect">
            <a:avLst/>
          </a:prstGeom>
          <a:noFill/>
          <a:ln>
            <a:noFill/>
          </a:ln>
        </p:spPr>
      </p:pic>
      <p:pic>
        <p:nvPicPr>
          <p:cNvPr descr="image.png" id="160" name="Google Shape;160;p16"/>
          <p:cNvPicPr preferRelativeResize="0"/>
          <p:nvPr/>
        </p:nvPicPr>
        <p:blipFill rotWithShape="1">
          <a:blip r:embed="rId7">
            <a:alphaModFix/>
          </a:blip>
          <a:srcRect b="0" l="0" r="0" t="0"/>
          <a:stretch/>
        </p:blipFill>
        <p:spPr>
          <a:xfrm>
            <a:off x="914400" y="4953000"/>
            <a:ext cx="85725" cy="180975"/>
          </a:xfrm>
          <a:prstGeom prst="rect">
            <a:avLst/>
          </a:prstGeom>
          <a:noFill/>
          <a:ln>
            <a:noFill/>
          </a:ln>
        </p:spPr>
      </p:pic>
      <p:pic>
        <p:nvPicPr>
          <p:cNvPr descr="image.png" id="161" name="Google Shape;161;p16"/>
          <p:cNvPicPr preferRelativeResize="0"/>
          <p:nvPr/>
        </p:nvPicPr>
        <p:blipFill rotWithShape="1">
          <a:blip r:embed="rId7">
            <a:alphaModFix/>
          </a:blip>
          <a:srcRect b="0" l="0" r="0" t="0"/>
          <a:stretch/>
        </p:blipFill>
        <p:spPr>
          <a:xfrm>
            <a:off x="6629400" y="3257550"/>
            <a:ext cx="85725" cy="180975"/>
          </a:xfrm>
          <a:prstGeom prst="rect">
            <a:avLst/>
          </a:prstGeom>
          <a:noFill/>
          <a:ln>
            <a:noFill/>
          </a:ln>
        </p:spPr>
      </p:pic>
      <p:pic>
        <p:nvPicPr>
          <p:cNvPr descr="image.png" id="162" name="Google Shape;162;p16"/>
          <p:cNvPicPr preferRelativeResize="0"/>
          <p:nvPr/>
        </p:nvPicPr>
        <p:blipFill rotWithShape="1">
          <a:blip r:embed="rId7">
            <a:alphaModFix/>
          </a:blip>
          <a:srcRect b="0" l="0" r="0" t="0"/>
          <a:stretch/>
        </p:blipFill>
        <p:spPr>
          <a:xfrm>
            <a:off x="6629400" y="3914775"/>
            <a:ext cx="85725" cy="180975"/>
          </a:xfrm>
          <a:prstGeom prst="rect">
            <a:avLst/>
          </a:prstGeom>
          <a:noFill/>
          <a:ln>
            <a:noFill/>
          </a:ln>
        </p:spPr>
      </p:pic>
      <p:pic>
        <p:nvPicPr>
          <p:cNvPr descr="image.png" id="163" name="Google Shape;163;p16"/>
          <p:cNvPicPr preferRelativeResize="0"/>
          <p:nvPr/>
        </p:nvPicPr>
        <p:blipFill rotWithShape="1">
          <a:blip r:embed="rId7">
            <a:alphaModFix/>
          </a:blip>
          <a:srcRect b="0" l="0" r="0" t="0"/>
          <a:stretch/>
        </p:blipFill>
        <p:spPr>
          <a:xfrm>
            <a:off x="6629400" y="4572000"/>
            <a:ext cx="85725" cy="180975"/>
          </a:xfrm>
          <a:prstGeom prst="rect">
            <a:avLst/>
          </a:prstGeom>
          <a:noFill/>
          <a:ln>
            <a:noFill/>
          </a:ln>
        </p:spPr>
      </p:pic>
      <p:sp>
        <p:nvSpPr>
          <p:cNvPr id="164" name="Google Shape;164;p16"/>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image.png" id="169" name="Google Shape;169;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0" name="Google Shape;170;p17"/>
          <p:cNvPicPr preferRelativeResize="0"/>
          <p:nvPr/>
        </p:nvPicPr>
        <p:blipFill rotWithShape="1">
          <a:blip r:embed="rId4">
            <a:alphaModFix/>
          </a:blip>
          <a:srcRect b="0" l="0" r="0" t="0"/>
          <a:stretch/>
        </p:blipFill>
        <p:spPr>
          <a:xfrm>
            <a:off x="477592" y="1648825"/>
            <a:ext cx="2571750" cy="1394025"/>
          </a:xfrm>
          <a:prstGeom prst="rect">
            <a:avLst/>
          </a:prstGeom>
          <a:noFill/>
          <a:ln>
            <a:noFill/>
          </a:ln>
        </p:spPr>
      </p:pic>
      <p:pic>
        <p:nvPicPr>
          <p:cNvPr descr="image.png" id="171" name="Google Shape;171;p17"/>
          <p:cNvPicPr preferRelativeResize="0"/>
          <p:nvPr/>
        </p:nvPicPr>
        <p:blipFill rotWithShape="1">
          <a:blip r:embed="rId5">
            <a:alphaModFix/>
          </a:blip>
          <a:srcRect b="0" l="0" r="0" t="0"/>
          <a:stretch/>
        </p:blipFill>
        <p:spPr>
          <a:xfrm>
            <a:off x="3239842" y="1648825"/>
            <a:ext cx="2571750" cy="1389363"/>
          </a:xfrm>
          <a:prstGeom prst="rect">
            <a:avLst/>
          </a:prstGeom>
          <a:noFill/>
          <a:ln>
            <a:noFill/>
          </a:ln>
        </p:spPr>
      </p:pic>
      <p:pic>
        <p:nvPicPr>
          <p:cNvPr descr="image.png" id="172" name="Google Shape;172;p17"/>
          <p:cNvPicPr preferRelativeResize="0"/>
          <p:nvPr/>
        </p:nvPicPr>
        <p:blipFill rotWithShape="1">
          <a:blip r:embed="rId4">
            <a:alphaModFix/>
          </a:blip>
          <a:srcRect b="0" l="0" r="0" t="0"/>
          <a:stretch/>
        </p:blipFill>
        <p:spPr>
          <a:xfrm>
            <a:off x="477592" y="3465499"/>
            <a:ext cx="2571750" cy="1684375"/>
          </a:xfrm>
          <a:prstGeom prst="rect">
            <a:avLst/>
          </a:prstGeom>
          <a:noFill/>
          <a:ln>
            <a:noFill/>
          </a:ln>
        </p:spPr>
      </p:pic>
      <p:pic>
        <p:nvPicPr>
          <p:cNvPr descr="image.png" id="173" name="Google Shape;173;p17"/>
          <p:cNvPicPr preferRelativeResize="0"/>
          <p:nvPr/>
        </p:nvPicPr>
        <p:blipFill rotWithShape="1">
          <a:blip r:embed="rId6">
            <a:alphaModFix/>
          </a:blip>
          <a:srcRect b="0" l="0" r="0" t="0"/>
          <a:stretch/>
        </p:blipFill>
        <p:spPr>
          <a:xfrm>
            <a:off x="3239842" y="3465499"/>
            <a:ext cx="2571750" cy="1684375"/>
          </a:xfrm>
          <a:prstGeom prst="rect">
            <a:avLst/>
          </a:prstGeom>
          <a:noFill/>
          <a:ln>
            <a:noFill/>
          </a:ln>
        </p:spPr>
      </p:pic>
      <p:sp>
        <p:nvSpPr>
          <p:cNvPr id="174" name="Google Shape;174;p17"/>
          <p:cNvSpPr txBox="1"/>
          <p:nvPr/>
        </p:nvSpPr>
        <p:spPr>
          <a:xfrm>
            <a:off x="620467" y="1934581"/>
            <a:ext cx="2286000" cy="62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4050" u="none" cap="none" strike="noStrike">
                <a:solidFill>
                  <a:srgbClr val="021B2E"/>
                </a:solidFill>
                <a:latin typeface="Poppins"/>
                <a:ea typeface="Poppins"/>
                <a:cs typeface="Poppins"/>
                <a:sym typeface="Poppins"/>
              </a:rPr>
              <a:t>2,769</a:t>
            </a:r>
            <a:endParaRPr/>
          </a:p>
        </p:txBody>
      </p:sp>
      <p:sp>
        <p:nvSpPr>
          <p:cNvPr id="175" name="Google Shape;175;p17"/>
          <p:cNvSpPr txBox="1"/>
          <p:nvPr/>
        </p:nvSpPr>
        <p:spPr>
          <a:xfrm>
            <a:off x="620467" y="2544181"/>
            <a:ext cx="22860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475569"/>
                </a:solidFill>
                <a:latin typeface="Lato"/>
                <a:ea typeface="Lato"/>
                <a:cs typeface="Lato"/>
                <a:sym typeface="Lato"/>
              </a:rPr>
              <a:t>TOTAL CYCLES</a:t>
            </a:r>
            <a:endParaRPr/>
          </a:p>
        </p:txBody>
      </p:sp>
      <p:sp>
        <p:nvSpPr>
          <p:cNvPr id="176" name="Google Shape;176;p17"/>
          <p:cNvSpPr txBox="1"/>
          <p:nvPr/>
        </p:nvSpPr>
        <p:spPr>
          <a:xfrm>
            <a:off x="3382717" y="1934581"/>
            <a:ext cx="2286000" cy="62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4050" u="none" cap="none" strike="noStrike">
                <a:solidFill>
                  <a:srgbClr val="021B2E"/>
                </a:solidFill>
                <a:latin typeface="Poppins"/>
                <a:ea typeface="Poppins"/>
                <a:cs typeface="Poppins"/>
                <a:sym typeface="Poppins"/>
              </a:rPr>
              <a:t>59</a:t>
            </a:r>
            <a:endParaRPr/>
          </a:p>
        </p:txBody>
      </p:sp>
      <p:sp>
        <p:nvSpPr>
          <p:cNvPr id="177" name="Google Shape;177;p17"/>
          <p:cNvSpPr txBox="1"/>
          <p:nvPr/>
        </p:nvSpPr>
        <p:spPr>
          <a:xfrm>
            <a:off x="3382717" y="2544181"/>
            <a:ext cx="22860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475569"/>
                </a:solidFill>
                <a:latin typeface="Lato"/>
                <a:ea typeface="Lato"/>
                <a:cs typeface="Lato"/>
                <a:sym typeface="Lato"/>
              </a:rPr>
              <a:t>ORIGINAL FEATURES</a:t>
            </a:r>
            <a:endParaRPr/>
          </a:p>
        </p:txBody>
      </p:sp>
      <p:sp>
        <p:nvSpPr>
          <p:cNvPr id="178" name="Google Shape;178;p17"/>
          <p:cNvSpPr txBox="1"/>
          <p:nvPr/>
        </p:nvSpPr>
        <p:spPr>
          <a:xfrm>
            <a:off x="620467" y="3751256"/>
            <a:ext cx="2286000" cy="62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4050" u="none" cap="none" strike="noStrike">
                <a:solidFill>
                  <a:srgbClr val="021B2E"/>
                </a:solidFill>
                <a:latin typeface="Poppins"/>
                <a:ea typeface="Poppins"/>
                <a:cs typeface="Poppins"/>
                <a:sym typeface="Poppins"/>
              </a:rPr>
              <a:t>54</a:t>
            </a:r>
            <a:endParaRPr/>
          </a:p>
        </p:txBody>
      </p:sp>
      <p:sp>
        <p:nvSpPr>
          <p:cNvPr id="179" name="Google Shape;179;p17"/>
          <p:cNvSpPr txBox="1"/>
          <p:nvPr/>
        </p:nvSpPr>
        <p:spPr>
          <a:xfrm>
            <a:off x="620467" y="4360856"/>
            <a:ext cx="22860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475569"/>
                </a:solidFill>
                <a:latin typeface="Lato"/>
                <a:ea typeface="Lato"/>
                <a:cs typeface="Lato"/>
                <a:sym typeface="Lato"/>
              </a:rPr>
              <a:t>CLEANED FEATURES</a:t>
            </a:r>
            <a:endParaRPr/>
          </a:p>
        </p:txBody>
      </p:sp>
      <p:sp>
        <p:nvSpPr>
          <p:cNvPr id="180" name="Google Shape;180;p17"/>
          <p:cNvSpPr txBox="1"/>
          <p:nvPr/>
        </p:nvSpPr>
        <p:spPr>
          <a:xfrm>
            <a:off x="3382717" y="3751256"/>
            <a:ext cx="2286000" cy="62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4050" u="none" cap="none" strike="noStrike">
                <a:solidFill>
                  <a:srgbClr val="021B2E"/>
                </a:solidFill>
                <a:latin typeface="Poppins"/>
                <a:ea typeface="Poppins"/>
                <a:cs typeface="Poppins"/>
                <a:sym typeface="Poppins"/>
              </a:rPr>
              <a:t>0</a:t>
            </a:r>
            <a:endParaRPr/>
          </a:p>
        </p:txBody>
      </p:sp>
      <p:sp>
        <p:nvSpPr>
          <p:cNvPr id="181" name="Google Shape;181;p17"/>
          <p:cNvSpPr txBox="1"/>
          <p:nvPr/>
        </p:nvSpPr>
        <p:spPr>
          <a:xfrm>
            <a:off x="3382717" y="4360856"/>
            <a:ext cx="22860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475569"/>
                </a:solidFill>
                <a:latin typeface="Lato"/>
                <a:ea typeface="Lato"/>
                <a:cs typeface="Lato"/>
                <a:sym typeface="Lato"/>
              </a:rPr>
              <a:t>REMAINING NULLS</a:t>
            </a:r>
            <a:endParaRPr/>
          </a:p>
        </p:txBody>
      </p:sp>
      <p:sp>
        <p:nvSpPr>
          <p:cNvPr id="182" name="Google Shape;182;p17"/>
          <p:cNvSpPr/>
          <p:nvPr/>
        </p:nvSpPr>
        <p:spPr>
          <a:xfrm>
            <a:off x="6286500" y="1004877"/>
            <a:ext cx="5334000" cy="990300"/>
          </a:xfrm>
          <a:prstGeom prst="roundRect">
            <a:avLst>
              <a:gd fmla="val 6201"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17"/>
          <p:cNvSpPr txBox="1"/>
          <p:nvPr/>
        </p:nvSpPr>
        <p:spPr>
          <a:xfrm>
            <a:off x="6543250" y="1233776"/>
            <a:ext cx="4886700" cy="558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rgbClr val="021B2E"/>
                </a:solidFill>
                <a:latin typeface="Lato"/>
                <a:ea typeface="Lato"/>
                <a:cs typeface="Lato"/>
                <a:sym typeface="Lato"/>
              </a:rPr>
              <a:t>Drop Fully-Null Columns</a:t>
            </a:r>
            <a:r>
              <a:rPr b="0" i="0" lang="en-US" sz="1450" u="none" cap="none" strike="noStrike">
                <a:solidFill>
                  <a:srgbClr val="475569"/>
                </a:solidFill>
                <a:latin typeface="Lato"/>
                <a:ea typeface="Lato"/>
                <a:cs typeface="Lato"/>
                <a:sym typeface="Lato"/>
              </a:rPr>
              <a:t> Removed any column where ALL values were NaN — ensuring no empty features.</a:t>
            </a:r>
            <a:endParaRPr sz="1500"/>
          </a:p>
        </p:txBody>
      </p:sp>
      <p:sp>
        <p:nvSpPr>
          <p:cNvPr id="184" name="Google Shape;184;p17"/>
          <p:cNvSpPr/>
          <p:nvPr/>
        </p:nvSpPr>
        <p:spPr>
          <a:xfrm>
            <a:off x="6286500" y="1004877"/>
            <a:ext cx="38100" cy="990300"/>
          </a:xfrm>
          <a:prstGeom prst="rect">
            <a:avLst/>
          </a:prstGeom>
          <a:solidFill>
            <a:srgbClr val="0DB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7"/>
          <p:cNvSpPr/>
          <p:nvPr/>
        </p:nvSpPr>
        <p:spPr>
          <a:xfrm>
            <a:off x="6286500" y="2268616"/>
            <a:ext cx="5334000" cy="990300"/>
          </a:xfrm>
          <a:prstGeom prst="roundRect">
            <a:avLst>
              <a:gd fmla="val 6201"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17"/>
          <p:cNvSpPr txBox="1"/>
          <p:nvPr/>
        </p:nvSpPr>
        <p:spPr>
          <a:xfrm>
            <a:off x="6543300" y="2459125"/>
            <a:ext cx="4886700" cy="558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rgbClr val="021B2E"/>
                </a:solidFill>
                <a:latin typeface="Lato"/>
                <a:ea typeface="Lato"/>
                <a:cs typeface="Lato"/>
                <a:sym typeface="Lato"/>
              </a:rPr>
              <a:t>Remove Redundant Identifiers</a:t>
            </a:r>
            <a:r>
              <a:rPr b="0" i="0" lang="en-US" sz="1450" u="none" cap="none" strike="noStrike">
                <a:solidFill>
                  <a:srgbClr val="475569"/>
                </a:solidFill>
                <a:latin typeface="Lato"/>
                <a:ea typeface="Lato"/>
                <a:cs typeface="Lato"/>
                <a:sym typeface="Lato"/>
              </a:rPr>
              <a:t> Dropped source_file, uid, start_time as they carry no predictive value.</a:t>
            </a:r>
            <a:endParaRPr sz="1500"/>
          </a:p>
        </p:txBody>
      </p:sp>
      <p:sp>
        <p:nvSpPr>
          <p:cNvPr id="187" name="Google Shape;187;p17"/>
          <p:cNvSpPr/>
          <p:nvPr/>
        </p:nvSpPr>
        <p:spPr>
          <a:xfrm>
            <a:off x="6286500" y="2268616"/>
            <a:ext cx="38100" cy="990300"/>
          </a:xfrm>
          <a:prstGeom prst="rect">
            <a:avLst/>
          </a:prstGeom>
          <a:solidFill>
            <a:srgbClr val="0DB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7"/>
          <p:cNvSpPr/>
          <p:nvPr/>
        </p:nvSpPr>
        <p:spPr>
          <a:xfrm>
            <a:off x="6286500" y="3580145"/>
            <a:ext cx="5334000" cy="990300"/>
          </a:xfrm>
          <a:prstGeom prst="roundRect">
            <a:avLst>
              <a:gd fmla="val 6201"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17"/>
          <p:cNvSpPr txBox="1"/>
          <p:nvPr/>
        </p:nvSpPr>
        <p:spPr>
          <a:xfrm>
            <a:off x="6543300" y="3733675"/>
            <a:ext cx="4886700" cy="558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rgbClr val="021B2E"/>
                </a:solidFill>
                <a:latin typeface="Lato"/>
                <a:ea typeface="Lato"/>
                <a:cs typeface="Lato"/>
                <a:sym typeface="Lato"/>
              </a:rPr>
              <a:t>Remove Data Leakage Features</a:t>
            </a:r>
            <a:r>
              <a:rPr b="0" i="0" lang="en-US" sz="1450" u="none" cap="none" strike="noStrike">
                <a:solidFill>
                  <a:srgbClr val="475569"/>
                </a:solidFill>
                <a:latin typeface="Lato"/>
                <a:ea typeface="Lato"/>
                <a:cs typeface="Lato"/>
                <a:sym typeface="Lato"/>
              </a:rPr>
              <a:t> Dropped initial_capacity and SOH_relative which derive from the target.</a:t>
            </a:r>
            <a:endParaRPr sz="1500"/>
          </a:p>
        </p:txBody>
      </p:sp>
      <p:sp>
        <p:nvSpPr>
          <p:cNvPr id="190" name="Google Shape;190;p17"/>
          <p:cNvSpPr/>
          <p:nvPr/>
        </p:nvSpPr>
        <p:spPr>
          <a:xfrm>
            <a:off x="6286500" y="3580145"/>
            <a:ext cx="38100" cy="990300"/>
          </a:xfrm>
          <a:prstGeom prst="rect">
            <a:avLst/>
          </a:prstGeom>
          <a:solidFill>
            <a:srgbClr val="0DB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7"/>
          <p:cNvSpPr/>
          <p:nvPr/>
        </p:nvSpPr>
        <p:spPr>
          <a:xfrm>
            <a:off x="6286500" y="4724406"/>
            <a:ext cx="5334000" cy="1038300"/>
          </a:xfrm>
          <a:prstGeom prst="roundRect">
            <a:avLst>
              <a:gd fmla="val 6201"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17"/>
          <p:cNvSpPr txBox="1"/>
          <p:nvPr/>
        </p:nvSpPr>
        <p:spPr>
          <a:xfrm>
            <a:off x="6543300" y="4914924"/>
            <a:ext cx="4886700" cy="558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rgbClr val="021B2E"/>
                </a:solidFill>
                <a:latin typeface="Lato"/>
                <a:ea typeface="Lato"/>
                <a:cs typeface="Lato"/>
                <a:sym typeface="Lato"/>
              </a:rPr>
              <a:t>Feature Engineering Review</a:t>
            </a:r>
            <a:r>
              <a:rPr b="0" i="0" lang="en-US" sz="1450" u="none" cap="none" strike="noStrike">
                <a:solidFill>
                  <a:srgbClr val="475569"/>
                </a:solidFill>
                <a:latin typeface="Lato"/>
                <a:ea typeface="Lato"/>
                <a:cs typeface="Lato"/>
                <a:sym typeface="Lato"/>
              </a:rPr>
              <a:t> Retained cycle-level aggregates (mean, std, min, max) for sensors.</a:t>
            </a:r>
            <a:endParaRPr sz="1500"/>
          </a:p>
        </p:txBody>
      </p:sp>
      <p:sp>
        <p:nvSpPr>
          <p:cNvPr id="193" name="Google Shape;193;p17"/>
          <p:cNvSpPr/>
          <p:nvPr/>
        </p:nvSpPr>
        <p:spPr>
          <a:xfrm>
            <a:off x="6286500" y="4796092"/>
            <a:ext cx="38100" cy="1038300"/>
          </a:xfrm>
          <a:prstGeom prst="rect">
            <a:avLst/>
          </a:prstGeom>
          <a:solidFill>
            <a:srgbClr val="0DB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17"/>
          <p:cNvSpPr txBox="1"/>
          <p:nvPr/>
        </p:nvSpPr>
        <p:spPr>
          <a:xfrm>
            <a:off x="571500" y="329819"/>
            <a:ext cx="11601600" cy="469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50" u="none" cap="none" strike="noStrike">
                <a:solidFill>
                  <a:srgbClr val="021B2E"/>
                </a:solidFill>
                <a:latin typeface="Poppins SemiBold"/>
                <a:ea typeface="Poppins SemiBold"/>
                <a:cs typeface="Poppins SemiBold"/>
                <a:sym typeface="Poppins SemiBold"/>
              </a:rPr>
              <a:t>Data Preprocessing &amp; Cleaning</a:t>
            </a:r>
            <a:endParaRPr sz="1600"/>
          </a:p>
        </p:txBody>
      </p:sp>
      <p:pic>
        <p:nvPicPr>
          <p:cNvPr descr="image.png" id="195" name="Google Shape;195;p17"/>
          <p:cNvPicPr preferRelativeResize="0"/>
          <p:nvPr/>
        </p:nvPicPr>
        <p:blipFill rotWithShape="1">
          <a:blip r:embed="rId7">
            <a:alphaModFix/>
          </a:blip>
          <a:srcRect b="0" l="0" r="0" t="0"/>
          <a:stretch/>
        </p:blipFill>
        <p:spPr>
          <a:xfrm>
            <a:off x="6286500" y="1023937"/>
            <a:ext cx="85725" cy="180975"/>
          </a:xfrm>
          <a:prstGeom prst="rect">
            <a:avLst/>
          </a:prstGeom>
          <a:noFill/>
          <a:ln>
            <a:noFill/>
          </a:ln>
        </p:spPr>
      </p:pic>
      <p:pic>
        <p:nvPicPr>
          <p:cNvPr descr="image.png" id="196" name="Google Shape;196;p17"/>
          <p:cNvPicPr preferRelativeResize="0"/>
          <p:nvPr/>
        </p:nvPicPr>
        <p:blipFill rotWithShape="1">
          <a:blip r:embed="rId7">
            <a:alphaModFix/>
          </a:blip>
          <a:srcRect b="0" l="0" r="0" t="0"/>
          <a:stretch/>
        </p:blipFill>
        <p:spPr>
          <a:xfrm>
            <a:off x="6286500" y="2287676"/>
            <a:ext cx="85725" cy="180975"/>
          </a:xfrm>
          <a:prstGeom prst="rect">
            <a:avLst/>
          </a:prstGeom>
          <a:noFill/>
          <a:ln>
            <a:noFill/>
          </a:ln>
        </p:spPr>
      </p:pic>
      <p:pic>
        <p:nvPicPr>
          <p:cNvPr descr="image.png" id="197" name="Google Shape;197;p17"/>
          <p:cNvPicPr preferRelativeResize="0"/>
          <p:nvPr/>
        </p:nvPicPr>
        <p:blipFill rotWithShape="1">
          <a:blip r:embed="rId7">
            <a:alphaModFix/>
          </a:blip>
          <a:srcRect b="0" l="0" r="0" t="0"/>
          <a:stretch/>
        </p:blipFill>
        <p:spPr>
          <a:xfrm>
            <a:off x="6286500" y="3599205"/>
            <a:ext cx="85725" cy="180975"/>
          </a:xfrm>
          <a:prstGeom prst="rect">
            <a:avLst/>
          </a:prstGeom>
          <a:noFill/>
          <a:ln>
            <a:noFill/>
          </a:ln>
        </p:spPr>
      </p:pic>
      <p:pic>
        <p:nvPicPr>
          <p:cNvPr descr="image.png" id="198" name="Google Shape;198;p17"/>
          <p:cNvPicPr preferRelativeResize="0"/>
          <p:nvPr/>
        </p:nvPicPr>
        <p:blipFill rotWithShape="1">
          <a:blip r:embed="rId7">
            <a:alphaModFix/>
          </a:blip>
          <a:srcRect b="0" l="0" r="0" t="0"/>
          <a:stretch/>
        </p:blipFill>
        <p:spPr>
          <a:xfrm>
            <a:off x="6286500" y="4743466"/>
            <a:ext cx="85725" cy="180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descr="image.png" id="203" name="Google Shape;203;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4" name="Google Shape;204;p18"/>
          <p:cNvPicPr preferRelativeResize="0"/>
          <p:nvPr/>
        </p:nvPicPr>
        <p:blipFill rotWithShape="1">
          <a:blip r:embed="rId4">
            <a:alphaModFix/>
          </a:blip>
          <a:srcRect b="0" l="0" r="0" t="0"/>
          <a:stretch/>
        </p:blipFill>
        <p:spPr>
          <a:xfrm>
            <a:off x="571500" y="1366837"/>
            <a:ext cx="11049000" cy="4010025"/>
          </a:xfrm>
          <a:prstGeom prst="rect">
            <a:avLst/>
          </a:prstGeom>
          <a:noFill/>
          <a:ln>
            <a:noFill/>
          </a:ln>
        </p:spPr>
      </p:pic>
      <p:pic>
        <p:nvPicPr>
          <p:cNvPr descr="image.png" id="205" name="Google Shape;205;p18"/>
          <p:cNvPicPr preferRelativeResize="0"/>
          <p:nvPr/>
        </p:nvPicPr>
        <p:blipFill rotWithShape="1">
          <a:blip r:embed="rId5">
            <a:alphaModFix/>
          </a:blip>
          <a:srcRect b="0" l="0" r="0" t="0"/>
          <a:stretch/>
        </p:blipFill>
        <p:spPr>
          <a:xfrm>
            <a:off x="571500" y="5614987"/>
            <a:ext cx="11049000" cy="895350"/>
          </a:xfrm>
          <a:prstGeom prst="rect">
            <a:avLst/>
          </a:prstGeom>
          <a:noFill/>
          <a:ln>
            <a:noFill/>
          </a:ln>
        </p:spPr>
      </p:pic>
      <p:graphicFrame>
        <p:nvGraphicFramePr>
          <p:cNvPr id="206" name="Google Shape;206;p18"/>
          <p:cNvGraphicFramePr/>
          <p:nvPr/>
        </p:nvGraphicFramePr>
        <p:xfrm>
          <a:off x="581025" y="1376362"/>
          <a:ext cx="3000000" cy="3000000"/>
        </p:xfrm>
        <a:graphic>
          <a:graphicData uri="http://schemas.openxmlformats.org/drawingml/2006/table">
            <a:tbl>
              <a:tblPr bandRow="1" firstRow="1">
                <a:noFill/>
                <a:tableStyleId>{8042AEBC-0977-4489-A038-1669289F0651}</a:tableStyleId>
              </a:tblPr>
              <a:tblGrid>
                <a:gridCol w="3208425"/>
                <a:gridCol w="1542150"/>
                <a:gridCol w="1638600"/>
                <a:gridCol w="1831325"/>
                <a:gridCol w="1404500"/>
                <a:gridCol w="1404925"/>
              </a:tblGrid>
              <a:tr h="570150">
                <a:tc>
                  <a:txBody>
                    <a:bodyPr/>
                    <a:lstStyle/>
                    <a:p>
                      <a:pPr indent="0" lvl="0" marL="0" marR="0" rtl="0" algn="l">
                        <a:spcBef>
                          <a:spcPts val="0"/>
                        </a:spcBef>
                        <a:spcAft>
                          <a:spcPts val="0"/>
                        </a:spcAft>
                        <a:buNone/>
                      </a:pPr>
                      <a:r>
                        <a:rPr b="0" i="0" lang="en-US" sz="1450" u="none" cap="none" strike="noStrike">
                          <a:solidFill>
                            <a:srgbClr val="FFFFFF"/>
                          </a:solidFill>
                          <a:latin typeface="Poppins SemiBold"/>
                          <a:ea typeface="Poppins SemiBold"/>
                          <a:cs typeface="Poppins SemiBold"/>
                          <a:sym typeface="Poppins SemiBold"/>
                        </a:rPr>
                        <a:t>Variable</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3B66"/>
                    </a:solidFill>
                  </a:tcPr>
                </a:tc>
                <a:tc>
                  <a:txBody>
                    <a:bodyPr/>
                    <a:lstStyle/>
                    <a:p>
                      <a:pPr indent="0" lvl="0" marL="0" marR="0" rtl="0" algn="l">
                        <a:spcBef>
                          <a:spcPts val="0"/>
                        </a:spcBef>
                        <a:spcAft>
                          <a:spcPts val="0"/>
                        </a:spcAft>
                        <a:buNone/>
                      </a:pPr>
                      <a:r>
                        <a:rPr b="0" i="0" lang="en-US" sz="1450" u="none" cap="none" strike="noStrike">
                          <a:solidFill>
                            <a:srgbClr val="FFFFFF"/>
                          </a:solidFill>
                          <a:latin typeface="Poppins SemiBold"/>
                          <a:ea typeface="Poppins SemiBold"/>
                          <a:cs typeface="Poppins SemiBold"/>
                          <a:sym typeface="Poppins SemiBold"/>
                        </a:rPr>
                        <a:t>Mean</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3B66"/>
                    </a:solidFill>
                  </a:tcPr>
                </a:tc>
                <a:tc>
                  <a:txBody>
                    <a:bodyPr/>
                    <a:lstStyle/>
                    <a:p>
                      <a:pPr indent="0" lvl="0" marL="0" marR="0" rtl="0" algn="l">
                        <a:spcBef>
                          <a:spcPts val="0"/>
                        </a:spcBef>
                        <a:spcAft>
                          <a:spcPts val="0"/>
                        </a:spcAft>
                        <a:buNone/>
                      </a:pPr>
                      <a:r>
                        <a:rPr b="0" i="0" lang="en-US" sz="1450" u="none" cap="none" strike="noStrike">
                          <a:solidFill>
                            <a:srgbClr val="FFFFFF"/>
                          </a:solidFill>
                          <a:latin typeface="Poppins SemiBold"/>
                          <a:ea typeface="Poppins SemiBold"/>
                          <a:cs typeface="Poppins SemiBold"/>
                          <a:sym typeface="Poppins SemiBold"/>
                        </a:rPr>
                        <a:t>Std Dev</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3B66"/>
                    </a:solidFill>
                  </a:tcPr>
                </a:tc>
                <a:tc>
                  <a:txBody>
                    <a:bodyPr/>
                    <a:lstStyle/>
                    <a:p>
                      <a:pPr indent="0" lvl="0" marL="0" marR="0" rtl="0" algn="l">
                        <a:spcBef>
                          <a:spcPts val="0"/>
                        </a:spcBef>
                        <a:spcAft>
                          <a:spcPts val="0"/>
                        </a:spcAft>
                        <a:buNone/>
                      </a:pPr>
                      <a:r>
                        <a:rPr b="0" i="0" lang="en-US" sz="1450" u="none" cap="none" strike="noStrike">
                          <a:solidFill>
                            <a:srgbClr val="FFFFFF"/>
                          </a:solidFill>
                          <a:latin typeface="Poppins SemiBold"/>
                          <a:ea typeface="Poppins SemiBold"/>
                          <a:cs typeface="Poppins SemiBold"/>
                          <a:sym typeface="Poppins SemiBold"/>
                        </a:rPr>
                        <a:t>Variance</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3B66"/>
                    </a:solidFill>
                  </a:tcPr>
                </a:tc>
                <a:tc>
                  <a:txBody>
                    <a:bodyPr/>
                    <a:lstStyle/>
                    <a:p>
                      <a:pPr indent="0" lvl="0" marL="0" marR="0" rtl="0" algn="l">
                        <a:spcBef>
                          <a:spcPts val="0"/>
                        </a:spcBef>
                        <a:spcAft>
                          <a:spcPts val="0"/>
                        </a:spcAft>
                        <a:buNone/>
                      </a:pPr>
                      <a:r>
                        <a:rPr b="0" i="0" lang="en-US" sz="1450" u="none" cap="none" strike="noStrike">
                          <a:solidFill>
                            <a:srgbClr val="FFFFFF"/>
                          </a:solidFill>
                          <a:latin typeface="Poppins SemiBold"/>
                          <a:ea typeface="Poppins SemiBold"/>
                          <a:cs typeface="Poppins SemiBold"/>
                          <a:sym typeface="Poppins SemiBold"/>
                        </a:rPr>
                        <a:t>Min</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3B66"/>
                    </a:solidFill>
                  </a:tcPr>
                </a:tc>
                <a:tc>
                  <a:txBody>
                    <a:bodyPr/>
                    <a:lstStyle/>
                    <a:p>
                      <a:pPr indent="0" lvl="0" marL="0" marR="0" rtl="0" algn="l">
                        <a:spcBef>
                          <a:spcPts val="0"/>
                        </a:spcBef>
                        <a:spcAft>
                          <a:spcPts val="0"/>
                        </a:spcAft>
                        <a:buNone/>
                      </a:pPr>
                      <a:r>
                        <a:rPr b="0" i="0" lang="en-US" sz="1450" u="none" cap="none" strike="noStrike">
                          <a:solidFill>
                            <a:srgbClr val="FFFFFF"/>
                          </a:solidFill>
                          <a:latin typeface="Poppins SemiBold"/>
                          <a:ea typeface="Poppins SemiBold"/>
                          <a:cs typeface="Poppins SemiBold"/>
                          <a:sym typeface="Poppins SemiBold"/>
                        </a:rPr>
                        <a:t>Max</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3B66"/>
                    </a:solidFill>
                  </a:tcPr>
                </a:tc>
              </a:tr>
              <a:tr h="570150">
                <a:tc>
                  <a:txBody>
                    <a:bodyPr/>
                    <a:lstStyle/>
                    <a:p>
                      <a:pPr indent="0" lvl="0" marL="0" marR="0" rtl="0" algn="l">
                        <a:spcBef>
                          <a:spcPts val="0"/>
                        </a:spcBef>
                        <a:spcAft>
                          <a:spcPts val="0"/>
                        </a:spcAft>
                        <a:buNone/>
                      </a:pPr>
                      <a:r>
                        <a:rPr b="1" i="0" lang="en-US" sz="1450" u="none" cap="none" strike="noStrike">
                          <a:solidFill>
                            <a:srgbClr val="475569"/>
                          </a:solidFill>
                          <a:latin typeface="Lato"/>
                          <a:ea typeface="Lato"/>
                          <a:cs typeface="Lato"/>
                          <a:sym typeface="Lato"/>
                        </a:rPr>
                        <a:t>Capacity (Ah)</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1.3265</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0.4725</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0.2233</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0.000</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2.640</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70150">
                <a:tc>
                  <a:txBody>
                    <a:bodyPr/>
                    <a:lstStyle/>
                    <a:p>
                      <a:pPr indent="0" lvl="0" marL="0" marR="0" rtl="0" algn="l">
                        <a:spcBef>
                          <a:spcPts val="0"/>
                        </a:spcBef>
                        <a:spcAft>
                          <a:spcPts val="0"/>
                        </a:spcAft>
                        <a:buNone/>
                      </a:pPr>
                      <a:r>
                        <a:rPr b="1" i="0" lang="en-US" sz="1450" u="none" cap="none" strike="noStrike">
                          <a:solidFill>
                            <a:srgbClr val="475569"/>
                          </a:solidFill>
                          <a:latin typeface="Lato"/>
                          <a:ea typeface="Lato"/>
                          <a:cs typeface="Lato"/>
                          <a:sym typeface="Lato"/>
                        </a:rPr>
                        <a:t>State of Health (SOH)</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0.6633</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0.2363</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0.0558</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0.000</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1.320</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70150">
                <a:tc>
                  <a:txBody>
                    <a:bodyPr/>
                    <a:lstStyle/>
                    <a:p>
                      <a:pPr indent="0" lvl="0" marL="0" marR="0" rtl="0" algn="l">
                        <a:spcBef>
                          <a:spcPts val="0"/>
                        </a:spcBef>
                        <a:spcAft>
                          <a:spcPts val="0"/>
                        </a:spcAft>
                        <a:buNone/>
                      </a:pPr>
                      <a:r>
                        <a:rPr b="1" i="0" lang="en-US" sz="1450" u="none" cap="none" strike="noStrike">
                          <a:solidFill>
                            <a:srgbClr val="475569"/>
                          </a:solidFill>
                          <a:latin typeface="Lato"/>
                          <a:ea typeface="Lato"/>
                          <a:cs typeface="Lato"/>
                          <a:sym typeface="Lato"/>
                        </a:rPr>
                        <a:t>Mean Voltage (V)</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3.4313</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0.1985</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0.0394</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2.530</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4.453</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70150">
                <a:tc>
                  <a:txBody>
                    <a:bodyPr/>
                    <a:lstStyle/>
                    <a:p>
                      <a:pPr indent="0" lvl="0" marL="0" marR="0" rtl="0" algn="l">
                        <a:spcBef>
                          <a:spcPts val="0"/>
                        </a:spcBef>
                        <a:spcAft>
                          <a:spcPts val="0"/>
                        </a:spcAft>
                        <a:buNone/>
                      </a:pPr>
                      <a:r>
                        <a:rPr b="1" i="0" lang="en-US" sz="1450" u="none" cap="none" strike="noStrike">
                          <a:solidFill>
                            <a:srgbClr val="475569"/>
                          </a:solidFill>
                          <a:latin typeface="Lato"/>
                          <a:ea typeface="Lato"/>
                          <a:cs typeface="Lato"/>
                          <a:sym typeface="Lato"/>
                        </a:rPr>
                        <a:t>Mean Current (A)</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−1.7288</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0.7815</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0.6107</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−3.976</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−0.029</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570150">
                <a:tc>
                  <a:txBody>
                    <a:bodyPr/>
                    <a:lstStyle/>
                    <a:p>
                      <a:pPr indent="0" lvl="0" marL="0" marR="0" rtl="0" algn="l">
                        <a:spcBef>
                          <a:spcPts val="0"/>
                        </a:spcBef>
                        <a:spcAft>
                          <a:spcPts val="0"/>
                        </a:spcAft>
                        <a:buNone/>
                      </a:pPr>
                      <a:r>
                        <a:rPr b="1" i="0" lang="en-US" sz="1450" u="none" cap="none" strike="noStrike">
                          <a:solidFill>
                            <a:srgbClr val="475569"/>
                          </a:solidFill>
                          <a:latin typeface="Lato"/>
                          <a:ea typeface="Lato"/>
                          <a:cs typeface="Lato"/>
                          <a:sym typeface="Lato"/>
                        </a:rPr>
                        <a:t>Mean Temperature (°C)</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26.96</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13.88</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192.64</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4.86</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58.96</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70150">
                <a:tc>
                  <a:txBody>
                    <a:bodyPr/>
                    <a:lstStyle/>
                    <a:p>
                      <a:pPr indent="0" lvl="0" marL="0" marR="0" rtl="0" algn="l">
                        <a:spcBef>
                          <a:spcPts val="0"/>
                        </a:spcBef>
                        <a:spcAft>
                          <a:spcPts val="0"/>
                        </a:spcAft>
                        <a:buNone/>
                      </a:pPr>
                      <a:r>
                        <a:rPr b="1" i="0" lang="en-US" sz="1450" u="none" cap="none" strike="noStrike">
                          <a:solidFill>
                            <a:srgbClr val="475569"/>
                          </a:solidFill>
                          <a:latin typeface="Lato"/>
                          <a:ea typeface="Lato"/>
                          <a:cs typeface="Lato"/>
                          <a:sym typeface="Lato"/>
                        </a:rPr>
                        <a:t>Cycle Number</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60.78</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48.30</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2333.3</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1</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450" u="none" cap="none" strike="noStrike">
                          <a:solidFill>
                            <a:srgbClr val="475569"/>
                          </a:solidFill>
                          <a:latin typeface="Lato"/>
                          <a:ea typeface="Lato"/>
                          <a:cs typeface="Lato"/>
                          <a:sym typeface="Lato"/>
                        </a:rPr>
                        <a:t>197</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207" name="Google Shape;207;p18"/>
          <p:cNvSpPr txBox="1"/>
          <p:nvPr/>
        </p:nvSpPr>
        <p:spPr>
          <a:xfrm>
            <a:off x="819150" y="5805487"/>
            <a:ext cx="10611000" cy="558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450" u="none" cap="none" strike="noStrike">
                <a:solidFill>
                  <a:srgbClr val="02C39A"/>
                </a:solidFill>
                <a:latin typeface="Lato"/>
                <a:ea typeface="Lato"/>
                <a:cs typeface="Lato"/>
                <a:sym typeface="Lato"/>
              </a:rPr>
              <a:t>KEY INSIGHT: </a:t>
            </a:r>
            <a:r>
              <a:rPr b="0" i="0" lang="en-US" sz="1450" u="none" cap="none" strike="noStrike">
                <a:solidFill>
                  <a:srgbClr val="EFF8FF"/>
                </a:solidFill>
                <a:latin typeface="Lato"/>
                <a:ea typeface="Lato"/>
                <a:cs typeface="Lato"/>
                <a:sym typeface="Lato"/>
              </a:rPr>
              <a:t>Capacity shows high variability (std = 0.47 Ah, 36% of mean) — </a:t>
            </a:r>
            <a:r>
              <a:rPr lang="en-US" sz="1450">
                <a:solidFill>
                  <a:srgbClr val="EFF8FF"/>
                </a:solidFill>
                <a:latin typeface="Lato"/>
                <a:ea typeface="Lato"/>
                <a:cs typeface="Lato"/>
                <a:sym typeface="Lato"/>
              </a:rPr>
              <a:t>showing a </a:t>
            </a:r>
            <a:r>
              <a:rPr b="0" i="0" lang="en-US" sz="1450" u="none" cap="none" strike="noStrike">
                <a:solidFill>
                  <a:srgbClr val="EFF8FF"/>
                </a:solidFill>
                <a:latin typeface="Lato"/>
                <a:ea typeface="Lato"/>
                <a:cs typeface="Lato"/>
                <a:sym typeface="Lato"/>
              </a:rPr>
              <a:t>degradation across battery life cycles within the dataset.</a:t>
            </a:r>
            <a:endParaRPr sz="1500"/>
          </a:p>
        </p:txBody>
      </p:sp>
      <p:sp>
        <p:nvSpPr>
          <p:cNvPr id="208" name="Google Shape;208;p18"/>
          <p:cNvSpPr/>
          <p:nvPr/>
        </p:nvSpPr>
        <p:spPr>
          <a:xfrm>
            <a:off x="581025" y="1933575"/>
            <a:ext cx="3208436"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18"/>
          <p:cNvSpPr/>
          <p:nvPr/>
        </p:nvSpPr>
        <p:spPr>
          <a:xfrm>
            <a:off x="3789461" y="1933575"/>
            <a:ext cx="154215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18"/>
          <p:cNvSpPr/>
          <p:nvPr/>
        </p:nvSpPr>
        <p:spPr>
          <a:xfrm>
            <a:off x="5331618" y="1933575"/>
            <a:ext cx="163859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8"/>
          <p:cNvSpPr/>
          <p:nvPr/>
        </p:nvSpPr>
        <p:spPr>
          <a:xfrm>
            <a:off x="6970216" y="1933575"/>
            <a:ext cx="1831330"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18"/>
          <p:cNvSpPr/>
          <p:nvPr/>
        </p:nvSpPr>
        <p:spPr>
          <a:xfrm>
            <a:off x="8801546" y="1933575"/>
            <a:ext cx="1404491"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18"/>
          <p:cNvSpPr/>
          <p:nvPr/>
        </p:nvSpPr>
        <p:spPr>
          <a:xfrm>
            <a:off x="10206037" y="1933575"/>
            <a:ext cx="140493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18"/>
          <p:cNvSpPr/>
          <p:nvPr/>
        </p:nvSpPr>
        <p:spPr>
          <a:xfrm>
            <a:off x="581025" y="2505075"/>
            <a:ext cx="3208436"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18"/>
          <p:cNvSpPr/>
          <p:nvPr/>
        </p:nvSpPr>
        <p:spPr>
          <a:xfrm>
            <a:off x="3789461" y="2505075"/>
            <a:ext cx="154215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18"/>
          <p:cNvSpPr/>
          <p:nvPr/>
        </p:nvSpPr>
        <p:spPr>
          <a:xfrm>
            <a:off x="5331618" y="2505075"/>
            <a:ext cx="163859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18"/>
          <p:cNvSpPr/>
          <p:nvPr/>
        </p:nvSpPr>
        <p:spPr>
          <a:xfrm>
            <a:off x="6970216" y="2505075"/>
            <a:ext cx="1831330"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18"/>
          <p:cNvSpPr/>
          <p:nvPr/>
        </p:nvSpPr>
        <p:spPr>
          <a:xfrm>
            <a:off x="8801546" y="2505075"/>
            <a:ext cx="1404491"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18"/>
          <p:cNvSpPr/>
          <p:nvPr/>
        </p:nvSpPr>
        <p:spPr>
          <a:xfrm>
            <a:off x="10206037" y="2505075"/>
            <a:ext cx="140493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18"/>
          <p:cNvSpPr/>
          <p:nvPr/>
        </p:nvSpPr>
        <p:spPr>
          <a:xfrm>
            <a:off x="581025" y="3076575"/>
            <a:ext cx="3208436"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18"/>
          <p:cNvSpPr/>
          <p:nvPr/>
        </p:nvSpPr>
        <p:spPr>
          <a:xfrm>
            <a:off x="3789461" y="3076575"/>
            <a:ext cx="154215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18"/>
          <p:cNvSpPr/>
          <p:nvPr/>
        </p:nvSpPr>
        <p:spPr>
          <a:xfrm>
            <a:off x="5331618" y="3076575"/>
            <a:ext cx="163859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8"/>
          <p:cNvSpPr/>
          <p:nvPr/>
        </p:nvSpPr>
        <p:spPr>
          <a:xfrm>
            <a:off x="6970216" y="3076575"/>
            <a:ext cx="1831330"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18"/>
          <p:cNvSpPr/>
          <p:nvPr/>
        </p:nvSpPr>
        <p:spPr>
          <a:xfrm>
            <a:off x="8801546" y="3076575"/>
            <a:ext cx="1404491"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18"/>
          <p:cNvSpPr/>
          <p:nvPr/>
        </p:nvSpPr>
        <p:spPr>
          <a:xfrm>
            <a:off x="10206037" y="3076575"/>
            <a:ext cx="140493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18"/>
          <p:cNvSpPr/>
          <p:nvPr/>
        </p:nvSpPr>
        <p:spPr>
          <a:xfrm>
            <a:off x="581025" y="3648075"/>
            <a:ext cx="3208436"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18"/>
          <p:cNvSpPr/>
          <p:nvPr/>
        </p:nvSpPr>
        <p:spPr>
          <a:xfrm>
            <a:off x="3789461" y="3648075"/>
            <a:ext cx="154215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18"/>
          <p:cNvSpPr/>
          <p:nvPr/>
        </p:nvSpPr>
        <p:spPr>
          <a:xfrm>
            <a:off x="5331618" y="3648075"/>
            <a:ext cx="163859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18"/>
          <p:cNvSpPr/>
          <p:nvPr/>
        </p:nvSpPr>
        <p:spPr>
          <a:xfrm>
            <a:off x="6970216" y="3648075"/>
            <a:ext cx="1831330"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18"/>
          <p:cNvSpPr/>
          <p:nvPr/>
        </p:nvSpPr>
        <p:spPr>
          <a:xfrm>
            <a:off x="8801546" y="3648075"/>
            <a:ext cx="1404491"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18"/>
          <p:cNvSpPr/>
          <p:nvPr/>
        </p:nvSpPr>
        <p:spPr>
          <a:xfrm>
            <a:off x="10206037" y="3648075"/>
            <a:ext cx="140493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18"/>
          <p:cNvSpPr/>
          <p:nvPr/>
        </p:nvSpPr>
        <p:spPr>
          <a:xfrm>
            <a:off x="581025" y="4219575"/>
            <a:ext cx="3208436"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3" name="Google Shape;233;p18"/>
          <p:cNvSpPr/>
          <p:nvPr/>
        </p:nvSpPr>
        <p:spPr>
          <a:xfrm>
            <a:off x="3789461" y="4219575"/>
            <a:ext cx="154215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18"/>
          <p:cNvSpPr/>
          <p:nvPr/>
        </p:nvSpPr>
        <p:spPr>
          <a:xfrm>
            <a:off x="5331618" y="4219575"/>
            <a:ext cx="163859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8"/>
          <p:cNvSpPr/>
          <p:nvPr/>
        </p:nvSpPr>
        <p:spPr>
          <a:xfrm>
            <a:off x="6970216" y="4219575"/>
            <a:ext cx="1831330"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18"/>
          <p:cNvSpPr/>
          <p:nvPr/>
        </p:nvSpPr>
        <p:spPr>
          <a:xfrm>
            <a:off x="8801546" y="4219575"/>
            <a:ext cx="1404491"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18"/>
          <p:cNvSpPr/>
          <p:nvPr/>
        </p:nvSpPr>
        <p:spPr>
          <a:xfrm>
            <a:off x="10206037" y="4219575"/>
            <a:ext cx="140493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8" name="Google Shape;238;p18"/>
          <p:cNvSpPr/>
          <p:nvPr/>
        </p:nvSpPr>
        <p:spPr>
          <a:xfrm>
            <a:off x="581025" y="4791075"/>
            <a:ext cx="3208436"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18"/>
          <p:cNvSpPr/>
          <p:nvPr/>
        </p:nvSpPr>
        <p:spPr>
          <a:xfrm>
            <a:off x="3789461" y="4791075"/>
            <a:ext cx="154215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18"/>
          <p:cNvSpPr/>
          <p:nvPr/>
        </p:nvSpPr>
        <p:spPr>
          <a:xfrm>
            <a:off x="5331618" y="4791075"/>
            <a:ext cx="163859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18"/>
          <p:cNvSpPr/>
          <p:nvPr/>
        </p:nvSpPr>
        <p:spPr>
          <a:xfrm>
            <a:off x="6970216" y="4791075"/>
            <a:ext cx="1831330"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18"/>
          <p:cNvSpPr/>
          <p:nvPr/>
        </p:nvSpPr>
        <p:spPr>
          <a:xfrm>
            <a:off x="8801546" y="4791075"/>
            <a:ext cx="1404491"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18"/>
          <p:cNvSpPr/>
          <p:nvPr/>
        </p:nvSpPr>
        <p:spPr>
          <a:xfrm>
            <a:off x="10206037" y="4791075"/>
            <a:ext cx="1404937"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18"/>
          <p:cNvSpPr txBox="1"/>
          <p:nvPr/>
        </p:nvSpPr>
        <p:spPr>
          <a:xfrm>
            <a:off x="571500" y="490537"/>
            <a:ext cx="11601450"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21B2E"/>
                </a:solidFill>
                <a:latin typeface="Poppins SemiBold"/>
                <a:ea typeface="Poppins SemiBold"/>
                <a:cs typeface="Poppins SemiBold"/>
                <a:sym typeface="Poppins SemiBold"/>
              </a:rPr>
              <a:t>Numerical Summaries — Key Variables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descr="image.png" id="249" name="Google Shape;249;p19"/>
          <p:cNvPicPr preferRelativeResize="0"/>
          <p:nvPr/>
        </p:nvPicPr>
        <p:blipFill rotWithShape="1">
          <a:blip r:embed="rId3">
            <a:alphaModFix/>
          </a:blip>
          <a:srcRect b="0" l="0" r="0" t="0"/>
          <a:stretch/>
        </p:blipFill>
        <p:spPr>
          <a:xfrm>
            <a:off x="0" y="-12175"/>
            <a:ext cx="12192000" cy="6870175"/>
          </a:xfrm>
          <a:prstGeom prst="rect">
            <a:avLst/>
          </a:prstGeom>
          <a:noFill/>
          <a:ln>
            <a:noFill/>
          </a:ln>
        </p:spPr>
      </p:pic>
      <p:sp>
        <p:nvSpPr>
          <p:cNvPr id="250" name="Google Shape;250;p19"/>
          <p:cNvSpPr/>
          <p:nvPr/>
        </p:nvSpPr>
        <p:spPr>
          <a:xfrm>
            <a:off x="571500" y="1095375"/>
            <a:ext cx="4869600" cy="1743000"/>
          </a:xfrm>
          <a:prstGeom prst="roundRect">
            <a:avLst>
              <a:gd fmla="val 4371"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19"/>
          <p:cNvSpPr/>
          <p:nvPr/>
        </p:nvSpPr>
        <p:spPr>
          <a:xfrm>
            <a:off x="571500" y="1095375"/>
            <a:ext cx="38100" cy="1743075"/>
          </a:xfrm>
          <a:prstGeom prst="rect">
            <a:avLst/>
          </a:prstGeom>
          <a:solidFill>
            <a:srgbClr val="0DB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19"/>
          <p:cNvSpPr/>
          <p:nvPr/>
        </p:nvSpPr>
        <p:spPr>
          <a:xfrm>
            <a:off x="571500" y="3076575"/>
            <a:ext cx="4869600" cy="1485900"/>
          </a:xfrm>
          <a:prstGeom prst="roundRect">
            <a:avLst>
              <a:gd fmla="val 5128"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19"/>
          <p:cNvSpPr/>
          <p:nvPr/>
        </p:nvSpPr>
        <p:spPr>
          <a:xfrm>
            <a:off x="571500" y="3076575"/>
            <a:ext cx="38100" cy="1485900"/>
          </a:xfrm>
          <a:prstGeom prst="rect">
            <a:avLst/>
          </a:prstGeom>
          <a:solidFill>
            <a:srgbClr val="0DB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19"/>
          <p:cNvSpPr/>
          <p:nvPr/>
        </p:nvSpPr>
        <p:spPr>
          <a:xfrm>
            <a:off x="571500" y="4636800"/>
            <a:ext cx="4869600" cy="1685700"/>
          </a:xfrm>
          <a:prstGeom prst="roundRect">
            <a:avLst>
              <a:gd fmla="val 4371"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19"/>
          <p:cNvSpPr/>
          <p:nvPr/>
        </p:nvSpPr>
        <p:spPr>
          <a:xfrm>
            <a:off x="571500" y="4694103"/>
            <a:ext cx="38100" cy="1685700"/>
          </a:xfrm>
          <a:prstGeom prst="rect">
            <a:avLst/>
          </a:prstGeom>
          <a:solidFill>
            <a:srgbClr val="0DB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19"/>
          <p:cNvSpPr txBox="1"/>
          <p:nvPr/>
        </p:nvSpPr>
        <p:spPr>
          <a:xfrm>
            <a:off x="609600" y="383725"/>
            <a:ext cx="116016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50">
                <a:solidFill>
                  <a:srgbClr val="021B2E"/>
                </a:solidFill>
                <a:latin typeface="Poppins SemiBold"/>
                <a:ea typeface="Poppins SemiBold"/>
                <a:cs typeface="Poppins SemiBold"/>
                <a:sym typeface="Poppins SemiBold"/>
              </a:rPr>
              <a:t>Feature Distributions - Histogram</a:t>
            </a:r>
            <a:endParaRPr/>
          </a:p>
        </p:txBody>
      </p:sp>
      <p:pic>
        <p:nvPicPr>
          <p:cNvPr descr="image.png" id="257" name="Google Shape;257;p19"/>
          <p:cNvPicPr preferRelativeResize="0"/>
          <p:nvPr/>
        </p:nvPicPr>
        <p:blipFill rotWithShape="1">
          <a:blip r:embed="rId4">
            <a:alphaModFix/>
          </a:blip>
          <a:srcRect b="0" l="0" r="0" t="0"/>
          <a:stretch/>
        </p:blipFill>
        <p:spPr>
          <a:xfrm>
            <a:off x="571500" y="1114425"/>
            <a:ext cx="85725" cy="180975"/>
          </a:xfrm>
          <a:prstGeom prst="rect">
            <a:avLst/>
          </a:prstGeom>
          <a:noFill/>
          <a:ln>
            <a:noFill/>
          </a:ln>
        </p:spPr>
      </p:pic>
      <p:pic>
        <p:nvPicPr>
          <p:cNvPr descr="image.png" id="258" name="Google Shape;258;p19"/>
          <p:cNvPicPr preferRelativeResize="0"/>
          <p:nvPr/>
        </p:nvPicPr>
        <p:blipFill rotWithShape="1">
          <a:blip r:embed="rId4">
            <a:alphaModFix/>
          </a:blip>
          <a:srcRect b="0" l="0" r="0" t="0"/>
          <a:stretch/>
        </p:blipFill>
        <p:spPr>
          <a:xfrm>
            <a:off x="571500" y="3095625"/>
            <a:ext cx="85725" cy="180975"/>
          </a:xfrm>
          <a:prstGeom prst="rect">
            <a:avLst/>
          </a:prstGeom>
          <a:noFill/>
          <a:ln>
            <a:noFill/>
          </a:ln>
        </p:spPr>
      </p:pic>
      <p:pic>
        <p:nvPicPr>
          <p:cNvPr descr="image.png" id="259" name="Google Shape;259;p19"/>
          <p:cNvPicPr preferRelativeResize="0"/>
          <p:nvPr/>
        </p:nvPicPr>
        <p:blipFill rotWithShape="1">
          <a:blip r:embed="rId4">
            <a:alphaModFix/>
          </a:blip>
          <a:srcRect b="0" l="0" r="0" t="0"/>
          <a:stretch/>
        </p:blipFill>
        <p:spPr>
          <a:xfrm>
            <a:off x="571500" y="4715107"/>
            <a:ext cx="85725" cy="180975"/>
          </a:xfrm>
          <a:prstGeom prst="rect">
            <a:avLst/>
          </a:prstGeom>
          <a:noFill/>
          <a:ln>
            <a:noFill/>
          </a:ln>
        </p:spPr>
      </p:pic>
      <p:sp>
        <p:nvSpPr>
          <p:cNvPr id="260" name="Google Shape;260;p19"/>
          <p:cNvSpPr txBox="1"/>
          <p:nvPr/>
        </p:nvSpPr>
        <p:spPr>
          <a:xfrm>
            <a:off x="741575" y="1295400"/>
            <a:ext cx="4648200" cy="1400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1300">
                <a:solidFill>
                  <a:srgbClr val="434343"/>
                </a:solidFill>
              </a:rPr>
              <a:t>Capacity &amp; SOH — three distinct health clusters</a:t>
            </a:r>
            <a:r>
              <a:rPr lang="en-US" sz="1300">
                <a:solidFill>
                  <a:srgbClr val="434343"/>
                </a:solidFill>
              </a:rPr>
              <a:t>, Both distributions are trimodal (red, orange, green bands), clearly segmenting batteries into low, mid, and high health groups. SOH mean of 0.66 confirms the dataset spans the full degradation spectrum.</a:t>
            </a:r>
            <a:endParaRPr b="1" sz="2100">
              <a:solidFill>
                <a:srgbClr val="434343"/>
              </a:solidFill>
            </a:endParaRPr>
          </a:p>
        </p:txBody>
      </p:sp>
      <p:sp>
        <p:nvSpPr>
          <p:cNvPr id="261" name="Google Shape;261;p19"/>
          <p:cNvSpPr txBox="1"/>
          <p:nvPr/>
        </p:nvSpPr>
        <p:spPr>
          <a:xfrm>
            <a:off x="741575" y="3266550"/>
            <a:ext cx="4509000" cy="1100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1300">
                <a:solidFill>
                  <a:srgbClr val="434343"/>
                </a:solidFill>
              </a:rPr>
              <a:t>SOH — heavy aging tail</a:t>
            </a:r>
            <a:r>
              <a:rPr lang="en-US" sz="1300">
                <a:solidFill>
                  <a:srgbClr val="434343"/>
                </a:solidFill>
              </a:rPr>
              <a:t> A large red cluster sits below SOH = 0.4, indicating a substantial share of severely degraded cells. Capacity ranges from near-zero to 2.5 Ah, reflecting batteries from fresh to end-of-life.</a:t>
            </a:r>
            <a:endParaRPr b="1" sz="1300">
              <a:solidFill>
                <a:srgbClr val="434343"/>
              </a:solidFill>
            </a:endParaRPr>
          </a:p>
        </p:txBody>
      </p:sp>
      <p:sp>
        <p:nvSpPr>
          <p:cNvPr id="262" name="Google Shape;262;p19"/>
          <p:cNvSpPr txBox="1"/>
          <p:nvPr/>
        </p:nvSpPr>
        <p:spPr>
          <a:xfrm>
            <a:off x="765400" y="4848025"/>
            <a:ext cx="4509000" cy="1400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1300">
                <a:solidFill>
                  <a:srgbClr val="434343"/>
                </a:solidFill>
              </a:rPr>
              <a:t>Temperature — bimodal operating conditions</a:t>
            </a:r>
            <a:r>
              <a:rPr lang="en-US" sz="1300">
                <a:solidFill>
                  <a:srgbClr val="434343"/>
                </a:solidFill>
              </a:rPr>
              <a:t>, Mean temperature peaks near 8 °C and 28 °C (mean 26.96 ± 13.88), suggesting two distinct test environments — cold-chamber vs. ambient — contributing to degradation variance.</a:t>
            </a:r>
            <a:endParaRPr b="1" sz="1300">
              <a:solidFill>
                <a:srgbClr val="434343"/>
              </a:solidFill>
            </a:endParaRPr>
          </a:p>
        </p:txBody>
      </p:sp>
      <p:pic>
        <p:nvPicPr>
          <p:cNvPr id="263" name="Google Shape;263;p19"/>
          <p:cNvPicPr preferRelativeResize="0"/>
          <p:nvPr/>
        </p:nvPicPr>
        <p:blipFill rotWithShape="1">
          <a:blip r:embed="rId5">
            <a:alphaModFix/>
          </a:blip>
          <a:srcRect b="0" l="0" r="0" t="3957"/>
          <a:stretch/>
        </p:blipFill>
        <p:spPr>
          <a:xfrm>
            <a:off x="5616250" y="1108250"/>
            <a:ext cx="6418673" cy="3578624"/>
          </a:xfrm>
          <a:prstGeom prst="rect">
            <a:avLst/>
          </a:prstGeom>
          <a:noFill/>
          <a:ln>
            <a:noFill/>
          </a:ln>
        </p:spPr>
      </p:pic>
      <p:sp>
        <p:nvSpPr>
          <p:cNvPr id="264" name="Google Shape;264;p19"/>
          <p:cNvSpPr/>
          <p:nvPr/>
        </p:nvSpPr>
        <p:spPr>
          <a:xfrm>
            <a:off x="6055575" y="4848025"/>
            <a:ext cx="4869600" cy="1481400"/>
          </a:xfrm>
          <a:prstGeom prst="roundRect">
            <a:avLst>
              <a:gd fmla="val 4371"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19"/>
          <p:cNvSpPr/>
          <p:nvPr/>
        </p:nvSpPr>
        <p:spPr>
          <a:xfrm>
            <a:off x="6055575" y="4898383"/>
            <a:ext cx="38100" cy="1481400"/>
          </a:xfrm>
          <a:prstGeom prst="rect">
            <a:avLst/>
          </a:prstGeom>
          <a:solidFill>
            <a:srgbClr val="0DB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66" name="Google Shape;266;p19"/>
          <p:cNvPicPr preferRelativeResize="0"/>
          <p:nvPr/>
        </p:nvPicPr>
        <p:blipFill rotWithShape="1">
          <a:blip r:embed="rId4">
            <a:alphaModFix/>
          </a:blip>
          <a:srcRect b="0" l="0" r="0" t="0"/>
          <a:stretch/>
        </p:blipFill>
        <p:spPr>
          <a:xfrm>
            <a:off x="6055575" y="4919281"/>
            <a:ext cx="85725" cy="164717"/>
          </a:xfrm>
          <a:prstGeom prst="rect">
            <a:avLst/>
          </a:prstGeom>
          <a:noFill/>
          <a:ln>
            <a:noFill/>
          </a:ln>
        </p:spPr>
      </p:pic>
      <p:sp>
        <p:nvSpPr>
          <p:cNvPr id="267" name="Google Shape;267;p19"/>
          <p:cNvSpPr txBox="1"/>
          <p:nvPr/>
        </p:nvSpPr>
        <p:spPr>
          <a:xfrm>
            <a:off x="6249475" y="4908067"/>
            <a:ext cx="4509000" cy="1400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1300">
                <a:solidFill>
                  <a:srgbClr val="434343"/>
                </a:solidFill>
              </a:rPr>
              <a:t>Cycle number &amp; RUL — early-life dense, full lifecycle covered</a:t>
            </a:r>
            <a:r>
              <a:rPr lang="en-US" sz="1300">
                <a:solidFill>
                  <a:srgbClr val="434343"/>
                </a:solidFill>
              </a:rPr>
              <a:t>, </a:t>
            </a:r>
            <a:r>
              <a:rPr lang="en-US" sz="1300">
                <a:solidFill>
                  <a:srgbClr val="434343"/>
                </a:solidFill>
              </a:rPr>
              <a:t>Both share a right-skewed distribution (mean ≈ 60, σ ≈ 48) with most data concentrated in early cycles, yet the tail extends to 200 — ensuring the model trains on all lifecycle phases.</a:t>
            </a:r>
            <a:endParaRPr b="1" sz="1300">
              <a:solidFill>
                <a:srgbClr val="43434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descr="image.png" id="272" name="Google Shape;272;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3" name="Google Shape;273;p20"/>
          <p:cNvPicPr preferRelativeResize="0"/>
          <p:nvPr/>
        </p:nvPicPr>
        <p:blipFill rotWithShape="1">
          <a:blip r:embed="rId4">
            <a:alphaModFix/>
          </a:blip>
          <a:srcRect b="0" l="0" r="0" t="0"/>
          <a:stretch/>
        </p:blipFill>
        <p:spPr>
          <a:xfrm>
            <a:off x="571500" y="1157287"/>
            <a:ext cx="5334000" cy="4572000"/>
          </a:xfrm>
          <a:prstGeom prst="rect">
            <a:avLst/>
          </a:prstGeom>
          <a:noFill/>
          <a:ln>
            <a:noFill/>
          </a:ln>
        </p:spPr>
      </p:pic>
      <p:sp>
        <p:nvSpPr>
          <p:cNvPr id="274" name="Google Shape;274;p20"/>
          <p:cNvSpPr txBox="1"/>
          <p:nvPr/>
        </p:nvSpPr>
        <p:spPr>
          <a:xfrm>
            <a:off x="7617700" y="744125"/>
            <a:ext cx="5600700" cy="3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50" u="none" cap="none" strike="noStrike">
                <a:solidFill>
                  <a:srgbClr val="0D3B66"/>
                </a:solidFill>
                <a:latin typeface="Poppins SemiBold"/>
                <a:ea typeface="Poppins SemiBold"/>
                <a:cs typeface="Poppins SemiBold"/>
                <a:sym typeface="Poppins SemiBold"/>
              </a:rPr>
              <a:t>Findings</a:t>
            </a:r>
            <a:endParaRPr/>
          </a:p>
        </p:txBody>
      </p:sp>
      <p:sp>
        <p:nvSpPr>
          <p:cNvPr id="275" name="Google Shape;275;p20"/>
          <p:cNvSpPr/>
          <p:nvPr/>
        </p:nvSpPr>
        <p:spPr>
          <a:xfrm>
            <a:off x="7541975" y="1196085"/>
            <a:ext cx="4545300" cy="1046400"/>
          </a:xfrm>
          <a:prstGeom prst="roundRect">
            <a:avLst>
              <a:gd fmla="val 8695"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00">
                <a:solidFill>
                  <a:srgbClr val="434343"/>
                </a:solidFill>
              </a:rPr>
              <a:t>Capacity clearly separates health classes</a:t>
            </a:r>
            <a:endParaRPr b="1" sz="1200">
              <a:solidFill>
                <a:srgbClr val="434343"/>
              </a:solidFill>
            </a:endParaRPr>
          </a:p>
          <a:p>
            <a:pPr indent="0" lvl="0" marL="0" marR="0" rtl="0" algn="l">
              <a:spcBef>
                <a:spcPts val="0"/>
              </a:spcBef>
              <a:spcAft>
                <a:spcPts val="0"/>
              </a:spcAft>
              <a:buNone/>
            </a:pPr>
            <a:r>
              <a:rPr lang="en-US" sz="1200">
                <a:solidFill>
                  <a:srgbClr val="434343"/>
                </a:solidFill>
              </a:rPr>
              <a:t>Healthy batteries cluster tightly around 1.65 Ah. Degraded batteries sit lower (~1.1 Ah median) but with a much wider spread, meaning degraded cells are inconsistent in behavior, not just weaker.</a:t>
            </a:r>
            <a:endParaRPr sz="1200">
              <a:solidFill>
                <a:srgbClr val="434343"/>
              </a:solidFill>
            </a:endParaRPr>
          </a:p>
        </p:txBody>
      </p:sp>
      <p:sp>
        <p:nvSpPr>
          <p:cNvPr id="276" name="Google Shape;276;p20"/>
          <p:cNvSpPr/>
          <p:nvPr/>
        </p:nvSpPr>
        <p:spPr>
          <a:xfrm>
            <a:off x="6286500" y="1719262"/>
            <a:ext cx="38100" cy="876300"/>
          </a:xfrm>
          <a:prstGeom prst="rect">
            <a:avLst/>
          </a:prstGeom>
          <a:solidFill>
            <a:srgbClr val="0DB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20"/>
          <p:cNvSpPr/>
          <p:nvPr/>
        </p:nvSpPr>
        <p:spPr>
          <a:xfrm>
            <a:off x="7541975" y="2346086"/>
            <a:ext cx="4469700" cy="1260300"/>
          </a:xfrm>
          <a:prstGeom prst="roundRect">
            <a:avLst>
              <a:gd fmla="val 11001"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00">
                <a:solidFill>
                  <a:srgbClr val="434343"/>
                </a:solidFill>
              </a:rPr>
              <a:t>Low temperature significantly reduces capacity</a:t>
            </a:r>
            <a:endParaRPr b="1" sz="1200">
              <a:solidFill>
                <a:srgbClr val="434343"/>
              </a:solidFill>
            </a:endParaRPr>
          </a:p>
          <a:p>
            <a:pPr indent="0" lvl="0" marL="0" marR="0" rtl="0" algn="l">
              <a:spcBef>
                <a:spcPts val="0"/>
              </a:spcBef>
              <a:spcAft>
                <a:spcPts val="0"/>
              </a:spcAft>
              <a:buNone/>
            </a:pPr>
            <a:r>
              <a:rPr lang="en-US" sz="1200">
                <a:solidFill>
                  <a:srgbClr val="434343"/>
                </a:solidFill>
              </a:rPr>
              <a:t>The 4°C group shows the lowest median capacity (~1.0 Ah) and highest variability. Capacity stabilises and improves from 22°C to 44°C, confirming temperature as a key operating condition affecting battery performance.</a:t>
            </a:r>
            <a:endParaRPr sz="1200">
              <a:solidFill>
                <a:srgbClr val="434343"/>
              </a:solidFill>
            </a:endParaRPr>
          </a:p>
        </p:txBody>
      </p:sp>
      <p:sp>
        <p:nvSpPr>
          <p:cNvPr id="278" name="Google Shape;278;p20"/>
          <p:cNvSpPr/>
          <p:nvPr/>
        </p:nvSpPr>
        <p:spPr>
          <a:xfrm>
            <a:off x="6286500" y="2833687"/>
            <a:ext cx="38100" cy="876300"/>
          </a:xfrm>
          <a:prstGeom prst="rect">
            <a:avLst/>
          </a:prstGeom>
          <a:solidFill>
            <a:srgbClr val="02C3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0"/>
          <p:cNvSpPr/>
          <p:nvPr/>
        </p:nvSpPr>
        <p:spPr>
          <a:xfrm>
            <a:off x="7541975" y="3709963"/>
            <a:ext cx="4469700" cy="1212300"/>
          </a:xfrm>
          <a:prstGeom prst="roundRect">
            <a:avLst>
              <a:gd fmla="val 8695"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00">
                <a:solidFill>
                  <a:srgbClr val="434343"/>
                </a:solidFill>
              </a:rPr>
              <a:t>SOH and cycle number both reveal a degradation tail. </a:t>
            </a:r>
            <a:r>
              <a:rPr lang="en-US" sz="1200">
                <a:solidFill>
                  <a:srgbClr val="434343"/>
                </a:solidFill>
              </a:rPr>
              <a:t>SOH bulk falls between 0.60–0.85, but 214 outliers (7.7%) sit below 0.2 — severe degradation events. Cycle number is right-skewed (median ≈ 50, max = 200), meaning data is dense in early life and thins toward end-of-life.</a:t>
            </a:r>
            <a:endParaRPr sz="1200">
              <a:solidFill>
                <a:srgbClr val="434343"/>
              </a:solidFill>
            </a:endParaRPr>
          </a:p>
        </p:txBody>
      </p:sp>
      <p:sp>
        <p:nvSpPr>
          <p:cNvPr id="280" name="Google Shape;280;p20"/>
          <p:cNvSpPr/>
          <p:nvPr/>
        </p:nvSpPr>
        <p:spPr>
          <a:xfrm>
            <a:off x="6286500" y="3948112"/>
            <a:ext cx="38100" cy="876300"/>
          </a:xfrm>
          <a:prstGeom prst="rect">
            <a:avLst/>
          </a:prstGeom>
          <a:solidFill>
            <a:srgbClr val="F4A2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20"/>
          <p:cNvSpPr/>
          <p:nvPr/>
        </p:nvSpPr>
        <p:spPr>
          <a:xfrm>
            <a:off x="7541975" y="5034251"/>
            <a:ext cx="4469700" cy="1260300"/>
          </a:xfrm>
          <a:prstGeom prst="roundRect">
            <a:avLst>
              <a:gd fmla="val 8695"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00">
                <a:solidFill>
                  <a:srgbClr val="434343"/>
                </a:solidFill>
              </a:rPr>
              <a:t>Discharge duration and voltage are the most outlier-prone features. </a:t>
            </a:r>
            <a:r>
              <a:rPr lang="en-US" sz="1200">
                <a:solidFill>
                  <a:srgbClr val="434343"/>
                </a:solidFill>
              </a:rPr>
              <a:t>Discharge duration has 651 outliers (23.5%) — the highest of any feature — with values ranging from near 0 to 6500s. Voltage follows with 352 outliers (12.7%), far exceeding current and temperature, flagging both as preprocessing priorities.</a:t>
            </a:r>
            <a:endParaRPr sz="1200">
              <a:solidFill>
                <a:srgbClr val="434343"/>
              </a:solidFill>
            </a:endParaRPr>
          </a:p>
        </p:txBody>
      </p:sp>
      <p:sp>
        <p:nvSpPr>
          <p:cNvPr id="282" name="Google Shape;282;p20"/>
          <p:cNvSpPr/>
          <p:nvPr/>
        </p:nvSpPr>
        <p:spPr>
          <a:xfrm>
            <a:off x="6286500" y="5062537"/>
            <a:ext cx="38100" cy="876300"/>
          </a:xfrm>
          <a:prstGeom prst="rect">
            <a:avLst/>
          </a:prstGeom>
          <a:solidFill>
            <a:srgbClr val="E639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20"/>
          <p:cNvSpPr txBox="1"/>
          <p:nvPr/>
        </p:nvSpPr>
        <p:spPr>
          <a:xfrm>
            <a:off x="571500" y="280987"/>
            <a:ext cx="116016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21B2E"/>
                </a:solidFill>
                <a:latin typeface="Poppins SemiBold"/>
                <a:ea typeface="Poppins SemiBold"/>
                <a:cs typeface="Poppins SemiBold"/>
                <a:sym typeface="Poppins SemiBold"/>
              </a:rPr>
              <a:t>Outlier Analysis</a:t>
            </a:r>
            <a:r>
              <a:rPr b="0" i="0" lang="en-US" sz="2850" u="none" cap="none" strike="noStrike">
                <a:solidFill>
                  <a:srgbClr val="021B2E"/>
                </a:solidFill>
                <a:latin typeface="Poppins SemiBold"/>
                <a:ea typeface="Poppins SemiBold"/>
                <a:cs typeface="Poppins SemiBold"/>
                <a:sym typeface="Poppins SemiBold"/>
              </a:rPr>
              <a:t> — Box Plots (Key Features)</a:t>
            </a:r>
            <a:endParaRPr/>
          </a:p>
        </p:txBody>
      </p:sp>
      <p:pic>
        <p:nvPicPr>
          <p:cNvPr descr="image.png" id="284" name="Google Shape;284;p20"/>
          <p:cNvPicPr preferRelativeResize="0"/>
          <p:nvPr/>
        </p:nvPicPr>
        <p:blipFill rotWithShape="1">
          <a:blip r:embed="rId5">
            <a:alphaModFix/>
          </a:blip>
          <a:srcRect b="0" l="0" r="0" t="0"/>
          <a:stretch/>
        </p:blipFill>
        <p:spPr>
          <a:xfrm>
            <a:off x="6286500" y="1738312"/>
            <a:ext cx="85725" cy="180975"/>
          </a:xfrm>
          <a:prstGeom prst="rect">
            <a:avLst/>
          </a:prstGeom>
          <a:noFill/>
          <a:ln>
            <a:noFill/>
          </a:ln>
        </p:spPr>
      </p:pic>
      <p:pic>
        <p:nvPicPr>
          <p:cNvPr descr="image.png" id="285" name="Google Shape;285;p20"/>
          <p:cNvPicPr preferRelativeResize="0"/>
          <p:nvPr/>
        </p:nvPicPr>
        <p:blipFill rotWithShape="1">
          <a:blip r:embed="rId5">
            <a:alphaModFix/>
          </a:blip>
          <a:srcRect b="0" l="0" r="0" t="0"/>
          <a:stretch/>
        </p:blipFill>
        <p:spPr>
          <a:xfrm>
            <a:off x="6286500" y="2852737"/>
            <a:ext cx="85725" cy="180975"/>
          </a:xfrm>
          <a:prstGeom prst="rect">
            <a:avLst/>
          </a:prstGeom>
          <a:noFill/>
          <a:ln>
            <a:noFill/>
          </a:ln>
        </p:spPr>
      </p:pic>
      <p:pic>
        <p:nvPicPr>
          <p:cNvPr descr="image.png" id="286" name="Google Shape;286;p20"/>
          <p:cNvPicPr preferRelativeResize="0"/>
          <p:nvPr/>
        </p:nvPicPr>
        <p:blipFill rotWithShape="1">
          <a:blip r:embed="rId5">
            <a:alphaModFix/>
          </a:blip>
          <a:srcRect b="0" l="0" r="0" t="0"/>
          <a:stretch/>
        </p:blipFill>
        <p:spPr>
          <a:xfrm>
            <a:off x="6286500" y="3967162"/>
            <a:ext cx="85725" cy="180975"/>
          </a:xfrm>
          <a:prstGeom prst="rect">
            <a:avLst/>
          </a:prstGeom>
          <a:noFill/>
          <a:ln>
            <a:noFill/>
          </a:ln>
        </p:spPr>
      </p:pic>
      <p:pic>
        <p:nvPicPr>
          <p:cNvPr descr="image.png" id="287" name="Google Shape;287;p20"/>
          <p:cNvPicPr preferRelativeResize="0"/>
          <p:nvPr/>
        </p:nvPicPr>
        <p:blipFill rotWithShape="1">
          <a:blip r:embed="rId5">
            <a:alphaModFix/>
          </a:blip>
          <a:srcRect b="0" l="0" r="0" t="0"/>
          <a:stretch/>
        </p:blipFill>
        <p:spPr>
          <a:xfrm>
            <a:off x="6286500" y="5081587"/>
            <a:ext cx="85725" cy="180975"/>
          </a:xfrm>
          <a:prstGeom prst="rect">
            <a:avLst/>
          </a:prstGeom>
          <a:noFill/>
          <a:ln>
            <a:noFill/>
          </a:ln>
        </p:spPr>
      </p:pic>
      <p:pic>
        <p:nvPicPr>
          <p:cNvPr id="288" name="Google Shape;288;p20" title="2.png"/>
          <p:cNvPicPr preferRelativeResize="0"/>
          <p:nvPr/>
        </p:nvPicPr>
        <p:blipFill rotWithShape="1">
          <a:blip r:embed="rId6">
            <a:alphaModFix/>
          </a:blip>
          <a:srcRect b="0" l="0" r="0" t="8525"/>
          <a:stretch/>
        </p:blipFill>
        <p:spPr>
          <a:xfrm>
            <a:off x="0" y="787788"/>
            <a:ext cx="7423049" cy="52824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descr="image.png" id="293" name="Google Shape;293;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94" name="Google Shape;294;p21"/>
          <p:cNvPicPr preferRelativeResize="0"/>
          <p:nvPr/>
        </p:nvPicPr>
        <p:blipFill rotWithShape="1">
          <a:blip r:embed="rId4">
            <a:alphaModFix/>
          </a:blip>
          <a:srcRect b="0" l="0" r="0" t="0"/>
          <a:stretch/>
        </p:blipFill>
        <p:spPr>
          <a:xfrm>
            <a:off x="571500" y="1590675"/>
            <a:ext cx="5334000" cy="887313"/>
          </a:xfrm>
          <a:prstGeom prst="rect">
            <a:avLst/>
          </a:prstGeom>
          <a:noFill/>
          <a:ln>
            <a:noFill/>
          </a:ln>
        </p:spPr>
      </p:pic>
      <p:pic>
        <p:nvPicPr>
          <p:cNvPr descr="image.png" id="295" name="Google Shape;295;p21"/>
          <p:cNvPicPr preferRelativeResize="0"/>
          <p:nvPr/>
        </p:nvPicPr>
        <p:blipFill rotWithShape="1">
          <a:blip r:embed="rId5">
            <a:alphaModFix/>
          </a:blip>
          <a:srcRect b="0" l="0" r="0" t="0"/>
          <a:stretch/>
        </p:blipFill>
        <p:spPr>
          <a:xfrm>
            <a:off x="571500" y="2668488"/>
            <a:ext cx="1682799" cy="828675"/>
          </a:xfrm>
          <a:prstGeom prst="rect">
            <a:avLst/>
          </a:prstGeom>
          <a:noFill/>
          <a:ln>
            <a:noFill/>
          </a:ln>
        </p:spPr>
      </p:pic>
      <p:pic>
        <p:nvPicPr>
          <p:cNvPr descr="image.png" id="296" name="Google Shape;296;p21"/>
          <p:cNvPicPr preferRelativeResize="0"/>
          <p:nvPr/>
        </p:nvPicPr>
        <p:blipFill rotWithShape="1">
          <a:blip r:embed="rId6">
            <a:alphaModFix/>
          </a:blip>
          <a:srcRect b="0" l="0" r="0" t="0"/>
          <a:stretch/>
        </p:blipFill>
        <p:spPr>
          <a:xfrm>
            <a:off x="2397174" y="2668488"/>
            <a:ext cx="1682799" cy="828675"/>
          </a:xfrm>
          <a:prstGeom prst="rect">
            <a:avLst/>
          </a:prstGeom>
          <a:noFill/>
          <a:ln>
            <a:noFill/>
          </a:ln>
        </p:spPr>
      </p:pic>
      <p:pic>
        <p:nvPicPr>
          <p:cNvPr descr="image.png" id="297" name="Google Shape;297;p21"/>
          <p:cNvPicPr preferRelativeResize="0"/>
          <p:nvPr/>
        </p:nvPicPr>
        <p:blipFill rotWithShape="1">
          <a:blip r:embed="rId7">
            <a:alphaModFix/>
          </a:blip>
          <a:srcRect b="0" l="0" r="0" t="0"/>
          <a:stretch/>
        </p:blipFill>
        <p:spPr>
          <a:xfrm>
            <a:off x="4222849" y="2668488"/>
            <a:ext cx="1682799" cy="828675"/>
          </a:xfrm>
          <a:prstGeom prst="rect">
            <a:avLst/>
          </a:prstGeom>
          <a:noFill/>
          <a:ln>
            <a:noFill/>
          </a:ln>
        </p:spPr>
      </p:pic>
      <p:pic>
        <p:nvPicPr>
          <p:cNvPr descr="image.png" id="298" name="Google Shape;298;p21"/>
          <p:cNvPicPr preferRelativeResize="0"/>
          <p:nvPr/>
        </p:nvPicPr>
        <p:blipFill rotWithShape="1">
          <a:blip r:embed="rId8">
            <a:alphaModFix/>
          </a:blip>
          <a:srcRect b="0" l="0" r="0" t="0"/>
          <a:stretch/>
        </p:blipFill>
        <p:spPr>
          <a:xfrm>
            <a:off x="771525" y="1809750"/>
            <a:ext cx="3554759" cy="176956"/>
          </a:xfrm>
          <a:prstGeom prst="rect">
            <a:avLst/>
          </a:prstGeom>
          <a:noFill/>
          <a:ln>
            <a:noFill/>
          </a:ln>
        </p:spPr>
      </p:pic>
      <p:pic>
        <p:nvPicPr>
          <p:cNvPr descr="image.png" id="299" name="Google Shape;299;p21"/>
          <p:cNvPicPr preferRelativeResize="0"/>
          <p:nvPr/>
        </p:nvPicPr>
        <p:blipFill rotWithShape="1">
          <a:blip r:embed="rId9">
            <a:alphaModFix/>
          </a:blip>
          <a:srcRect b="0" l="0" r="0" t="0"/>
          <a:stretch/>
        </p:blipFill>
        <p:spPr>
          <a:xfrm>
            <a:off x="771525" y="2101006"/>
            <a:ext cx="4014341" cy="176956"/>
          </a:xfrm>
          <a:prstGeom prst="rect">
            <a:avLst/>
          </a:prstGeom>
          <a:noFill/>
          <a:ln>
            <a:noFill/>
          </a:ln>
        </p:spPr>
      </p:pic>
      <p:sp>
        <p:nvSpPr>
          <p:cNvPr id="300" name="Google Shape;300;p21"/>
          <p:cNvSpPr txBox="1"/>
          <p:nvPr/>
        </p:nvSpPr>
        <p:spPr>
          <a:xfrm>
            <a:off x="714375" y="2811363"/>
            <a:ext cx="1397049" cy="30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400" u="none" cap="none" strike="noStrike">
                <a:solidFill>
                  <a:srgbClr val="FFFFFF"/>
                </a:solidFill>
                <a:latin typeface="Poppins"/>
                <a:ea typeface="Poppins"/>
                <a:cs typeface="Poppins"/>
                <a:sym typeface="Poppins"/>
              </a:rPr>
              <a:t>606.43</a:t>
            </a:r>
            <a:endParaRPr/>
          </a:p>
        </p:txBody>
      </p:sp>
      <p:sp>
        <p:nvSpPr>
          <p:cNvPr id="301" name="Google Shape;301;p21"/>
          <p:cNvSpPr txBox="1"/>
          <p:nvPr/>
        </p:nvSpPr>
        <p:spPr>
          <a:xfrm>
            <a:off x="714375" y="3211413"/>
            <a:ext cx="1397049"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00" u="none" cap="none" strike="noStrike">
                <a:solidFill>
                  <a:srgbClr val="EFF8FF"/>
                </a:solidFill>
                <a:latin typeface="Lato"/>
                <a:ea typeface="Lato"/>
                <a:cs typeface="Lato"/>
                <a:sym typeface="Lato"/>
              </a:rPr>
              <a:t>F-STATISTIC</a:t>
            </a:r>
            <a:endParaRPr/>
          </a:p>
        </p:txBody>
      </p:sp>
      <p:sp>
        <p:nvSpPr>
          <p:cNvPr id="302" name="Google Shape;302;p21"/>
          <p:cNvSpPr txBox="1"/>
          <p:nvPr/>
        </p:nvSpPr>
        <p:spPr>
          <a:xfrm>
            <a:off x="2540049" y="2811363"/>
            <a:ext cx="1397049" cy="30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400" u="none" cap="none" strike="noStrike">
                <a:solidFill>
                  <a:srgbClr val="FFFFFF"/>
                </a:solidFill>
                <a:latin typeface="Poppins"/>
                <a:ea typeface="Poppins"/>
                <a:cs typeface="Poppins"/>
                <a:sym typeface="Poppins"/>
              </a:rPr>
              <a:t>p &lt; 0.001</a:t>
            </a:r>
            <a:endParaRPr/>
          </a:p>
        </p:txBody>
      </p:sp>
      <p:sp>
        <p:nvSpPr>
          <p:cNvPr id="303" name="Google Shape;303;p21"/>
          <p:cNvSpPr txBox="1"/>
          <p:nvPr/>
        </p:nvSpPr>
        <p:spPr>
          <a:xfrm>
            <a:off x="2540049" y="3211413"/>
            <a:ext cx="1397049"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00" u="none" cap="none" strike="noStrike">
                <a:solidFill>
                  <a:srgbClr val="EFF8FF"/>
                </a:solidFill>
                <a:latin typeface="Lato"/>
                <a:ea typeface="Lato"/>
                <a:cs typeface="Lato"/>
                <a:sym typeface="Lato"/>
              </a:rPr>
              <a:t>P-VALUE</a:t>
            </a:r>
            <a:endParaRPr/>
          </a:p>
        </p:txBody>
      </p:sp>
      <p:sp>
        <p:nvSpPr>
          <p:cNvPr id="304" name="Google Shape;304;p21"/>
          <p:cNvSpPr txBox="1"/>
          <p:nvPr/>
        </p:nvSpPr>
        <p:spPr>
          <a:xfrm>
            <a:off x="4365724" y="2858988"/>
            <a:ext cx="1397049" cy="22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800" u="none" cap="none" strike="noStrike">
                <a:solidFill>
                  <a:srgbClr val="FFFFFF"/>
                </a:solidFill>
                <a:latin typeface="Poppins"/>
                <a:ea typeface="Poppins"/>
                <a:cs typeface="Poppins"/>
                <a:sym typeface="Poppins"/>
              </a:rPr>
              <a:t>REJECT H₀</a:t>
            </a:r>
            <a:endParaRPr/>
          </a:p>
        </p:txBody>
      </p:sp>
      <p:sp>
        <p:nvSpPr>
          <p:cNvPr id="305" name="Google Shape;305;p21"/>
          <p:cNvSpPr txBox="1"/>
          <p:nvPr/>
        </p:nvSpPr>
        <p:spPr>
          <a:xfrm>
            <a:off x="4365724" y="3182838"/>
            <a:ext cx="1397049"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00" u="none" cap="none" strike="noStrike">
                <a:solidFill>
                  <a:srgbClr val="021B2E"/>
                </a:solidFill>
                <a:latin typeface="Lato"/>
                <a:ea typeface="Lato"/>
                <a:cs typeface="Lato"/>
                <a:sym typeface="Lato"/>
              </a:rPr>
              <a:t>DECISION</a:t>
            </a:r>
            <a:endParaRPr/>
          </a:p>
        </p:txBody>
      </p:sp>
      <p:sp>
        <p:nvSpPr>
          <p:cNvPr id="306" name="Google Shape;306;p21"/>
          <p:cNvSpPr/>
          <p:nvPr/>
        </p:nvSpPr>
        <p:spPr>
          <a:xfrm>
            <a:off x="819963" y="4030594"/>
            <a:ext cx="4942800" cy="1451100"/>
          </a:xfrm>
          <a:prstGeom prst="roundRect">
            <a:avLst>
              <a:gd fmla="val 6722" name="adj"/>
            </a:avLst>
          </a:prstGeom>
          <a:solidFill>
            <a:srgbClr val="FFFFFF"/>
          </a:solid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1200"/>
              </a:spcAft>
              <a:buSzPts val="1100"/>
              <a:buNone/>
            </a:pPr>
            <a:r>
              <a:rPr lang="en-US" sz="1600">
                <a:solidFill>
                  <a:srgbClr val="434343"/>
                </a:solidFill>
              </a:rPr>
              <a:t>The ANOVA test shows a </a:t>
            </a:r>
            <a:r>
              <a:rPr b="1" lang="en-US" sz="1600">
                <a:solidFill>
                  <a:srgbClr val="434343"/>
                </a:solidFill>
              </a:rPr>
              <a:t>significant difference</a:t>
            </a:r>
            <a:r>
              <a:rPr lang="en-US" sz="1600">
                <a:solidFill>
                  <a:srgbClr val="434343"/>
                </a:solidFill>
              </a:rPr>
              <a:t> in battery capacity between temperature groups.</a:t>
            </a:r>
            <a:br>
              <a:rPr lang="en-US" sz="1600">
                <a:solidFill>
                  <a:srgbClr val="434343"/>
                </a:solidFill>
              </a:rPr>
            </a:br>
            <a:r>
              <a:rPr lang="en-US" sz="1600">
                <a:solidFill>
                  <a:srgbClr val="434343"/>
                </a:solidFill>
              </a:rPr>
              <a:t> Since </a:t>
            </a:r>
            <a:r>
              <a:rPr b="1" lang="en-US" sz="1600">
                <a:solidFill>
                  <a:srgbClr val="434343"/>
                </a:solidFill>
              </a:rPr>
              <a:t>p &lt; 0.05</a:t>
            </a:r>
            <a:r>
              <a:rPr lang="en-US" sz="1600">
                <a:solidFill>
                  <a:srgbClr val="434343"/>
                </a:solidFill>
              </a:rPr>
              <a:t>, we </a:t>
            </a:r>
            <a:r>
              <a:rPr b="1" lang="en-US" sz="1600">
                <a:solidFill>
                  <a:srgbClr val="434343"/>
                </a:solidFill>
              </a:rPr>
              <a:t>reject H₀</a:t>
            </a:r>
            <a:r>
              <a:rPr lang="en-US" sz="1600">
                <a:solidFill>
                  <a:srgbClr val="434343"/>
                </a:solidFill>
              </a:rPr>
              <a:t>.</a:t>
            </a:r>
            <a:br>
              <a:rPr lang="en-US" sz="1600">
                <a:solidFill>
                  <a:srgbClr val="434343"/>
                </a:solidFill>
              </a:rPr>
            </a:br>
            <a:r>
              <a:rPr lang="en-US" sz="1600">
                <a:solidFill>
                  <a:srgbClr val="434343"/>
                </a:solidFill>
              </a:rPr>
              <a:t> This means that </a:t>
            </a:r>
            <a:r>
              <a:rPr b="1" lang="en-US" sz="1600">
                <a:solidFill>
                  <a:srgbClr val="434343"/>
                </a:solidFill>
              </a:rPr>
              <a:t>ambient temperature affects battery capacity</a:t>
            </a:r>
            <a:r>
              <a:rPr lang="en-US" sz="1600">
                <a:solidFill>
                  <a:srgbClr val="434343"/>
                </a:solidFill>
              </a:rPr>
              <a:t>.</a:t>
            </a:r>
            <a:endParaRPr sz="1800">
              <a:solidFill>
                <a:schemeClr val="dk1"/>
              </a:solidFill>
              <a:latin typeface="Calibri"/>
              <a:ea typeface="Calibri"/>
              <a:cs typeface="Calibri"/>
              <a:sym typeface="Calibri"/>
            </a:endParaRPr>
          </a:p>
        </p:txBody>
      </p:sp>
      <p:sp>
        <p:nvSpPr>
          <p:cNvPr id="307" name="Google Shape;307;p21"/>
          <p:cNvSpPr/>
          <p:nvPr/>
        </p:nvSpPr>
        <p:spPr>
          <a:xfrm>
            <a:off x="819137" y="4030578"/>
            <a:ext cx="38100" cy="1451100"/>
          </a:xfrm>
          <a:prstGeom prst="rect">
            <a:avLst/>
          </a:prstGeom>
          <a:solidFill>
            <a:srgbClr val="0DB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21"/>
          <p:cNvSpPr txBox="1"/>
          <p:nvPr/>
        </p:nvSpPr>
        <p:spPr>
          <a:xfrm>
            <a:off x="571500" y="714375"/>
            <a:ext cx="11601450"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21B2E"/>
                </a:solidFill>
                <a:latin typeface="Poppins SemiBold"/>
                <a:ea typeface="Poppins SemiBold"/>
                <a:cs typeface="Poppins SemiBold"/>
                <a:sym typeface="Poppins SemiBold"/>
              </a:rPr>
              <a:t>Hypothesis Test 1 — ANOVA: Temperature Effect</a:t>
            </a:r>
            <a:endParaRPr/>
          </a:p>
        </p:txBody>
      </p:sp>
      <p:pic>
        <p:nvPicPr>
          <p:cNvPr descr="image.png" id="309" name="Google Shape;309;p21"/>
          <p:cNvPicPr preferRelativeResize="0"/>
          <p:nvPr/>
        </p:nvPicPr>
        <p:blipFill rotWithShape="1">
          <a:blip r:embed="rId10">
            <a:alphaModFix/>
          </a:blip>
          <a:srcRect b="0" l="0" r="0" t="0"/>
          <a:stretch/>
        </p:blipFill>
        <p:spPr>
          <a:xfrm>
            <a:off x="795325" y="4030578"/>
            <a:ext cx="85725" cy="231689"/>
          </a:xfrm>
          <a:prstGeom prst="rect">
            <a:avLst/>
          </a:prstGeom>
          <a:noFill/>
          <a:ln>
            <a:noFill/>
          </a:ln>
        </p:spPr>
      </p:pic>
      <p:pic>
        <p:nvPicPr>
          <p:cNvPr id="310" name="Google Shape;310;p21" title="3.png"/>
          <p:cNvPicPr preferRelativeResize="0"/>
          <p:nvPr/>
        </p:nvPicPr>
        <p:blipFill rotWithShape="1">
          <a:blip r:embed="rId11">
            <a:alphaModFix/>
          </a:blip>
          <a:srcRect b="-2396" l="49609" r="0" t="7699"/>
          <a:stretch/>
        </p:blipFill>
        <p:spPr>
          <a:xfrm>
            <a:off x="6113025" y="1590675"/>
            <a:ext cx="6059926" cy="4058371"/>
          </a:xfrm>
          <a:prstGeom prst="rect">
            <a:avLst/>
          </a:prstGeom>
          <a:solidFill>
            <a:srgbClr val="FFFFFF"/>
          </a:solidFill>
          <a:ln>
            <a:noFill/>
          </a:ln>
        </p:spPr>
      </p:pic>
      <p:sp>
        <p:nvSpPr>
          <p:cNvPr id="311" name="Google Shape;311;p21"/>
          <p:cNvSpPr txBox="1"/>
          <p:nvPr/>
        </p:nvSpPr>
        <p:spPr>
          <a:xfrm>
            <a:off x="3165050" y="1874475"/>
            <a:ext cx="56202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t/>
            </a:r>
            <a:endParaRPr sz="12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descr="image.png" id="316" name="Google Shape;316;p22"/>
          <p:cNvPicPr preferRelativeResize="0"/>
          <p:nvPr/>
        </p:nvPicPr>
        <p:blipFill rotWithShape="1">
          <a:blip r:embed="rId3">
            <a:alphaModFix/>
          </a:blip>
          <a:srcRect b="0" l="0" r="0" t="0"/>
          <a:stretch/>
        </p:blipFill>
        <p:spPr>
          <a:xfrm>
            <a:off x="0" y="-10242"/>
            <a:ext cx="12192000" cy="6858000"/>
          </a:xfrm>
          <a:prstGeom prst="rect">
            <a:avLst/>
          </a:prstGeom>
          <a:noFill/>
          <a:ln>
            <a:noFill/>
          </a:ln>
        </p:spPr>
      </p:pic>
      <p:pic>
        <p:nvPicPr>
          <p:cNvPr descr="image.png" id="317" name="Google Shape;317;p22"/>
          <p:cNvPicPr preferRelativeResize="0"/>
          <p:nvPr/>
        </p:nvPicPr>
        <p:blipFill rotWithShape="1">
          <a:blip r:embed="rId4">
            <a:alphaModFix/>
          </a:blip>
          <a:srcRect b="0" l="0" r="0" t="0"/>
          <a:stretch/>
        </p:blipFill>
        <p:spPr>
          <a:xfrm>
            <a:off x="571500" y="1590675"/>
            <a:ext cx="5334000" cy="887313"/>
          </a:xfrm>
          <a:prstGeom prst="rect">
            <a:avLst/>
          </a:prstGeom>
          <a:noFill/>
          <a:ln>
            <a:noFill/>
          </a:ln>
        </p:spPr>
      </p:pic>
      <p:pic>
        <p:nvPicPr>
          <p:cNvPr descr="image.png" id="318" name="Google Shape;318;p22"/>
          <p:cNvPicPr preferRelativeResize="0"/>
          <p:nvPr/>
        </p:nvPicPr>
        <p:blipFill rotWithShape="1">
          <a:blip r:embed="rId5">
            <a:alphaModFix/>
          </a:blip>
          <a:srcRect b="0" l="0" r="0" t="0"/>
          <a:stretch/>
        </p:blipFill>
        <p:spPr>
          <a:xfrm>
            <a:off x="571549" y="2793220"/>
            <a:ext cx="1682799" cy="828675"/>
          </a:xfrm>
          <a:prstGeom prst="rect">
            <a:avLst/>
          </a:prstGeom>
          <a:noFill/>
          <a:ln>
            <a:noFill/>
          </a:ln>
        </p:spPr>
      </p:pic>
      <p:pic>
        <p:nvPicPr>
          <p:cNvPr descr="image.png" id="319" name="Google Shape;319;p22"/>
          <p:cNvPicPr preferRelativeResize="0"/>
          <p:nvPr/>
        </p:nvPicPr>
        <p:blipFill rotWithShape="1">
          <a:blip r:embed="rId6">
            <a:alphaModFix/>
          </a:blip>
          <a:srcRect b="0" l="0" r="0" t="0"/>
          <a:stretch/>
        </p:blipFill>
        <p:spPr>
          <a:xfrm>
            <a:off x="2397224" y="2793220"/>
            <a:ext cx="1682799" cy="828675"/>
          </a:xfrm>
          <a:prstGeom prst="rect">
            <a:avLst/>
          </a:prstGeom>
          <a:noFill/>
          <a:ln>
            <a:noFill/>
          </a:ln>
        </p:spPr>
      </p:pic>
      <p:sp>
        <p:nvSpPr>
          <p:cNvPr id="320" name="Google Shape;320;p22"/>
          <p:cNvSpPr txBox="1"/>
          <p:nvPr/>
        </p:nvSpPr>
        <p:spPr>
          <a:xfrm>
            <a:off x="714424" y="2936095"/>
            <a:ext cx="1397100" cy="369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2400">
                <a:solidFill>
                  <a:srgbClr val="FFFFFF"/>
                </a:solidFill>
                <a:latin typeface="Poppins"/>
                <a:ea typeface="Poppins"/>
                <a:cs typeface="Poppins"/>
                <a:sym typeface="Poppins"/>
              </a:rPr>
              <a:t>t = 53.64</a:t>
            </a:r>
            <a:endParaRPr/>
          </a:p>
        </p:txBody>
      </p:sp>
      <p:sp>
        <p:nvSpPr>
          <p:cNvPr id="321" name="Google Shape;321;p22"/>
          <p:cNvSpPr txBox="1"/>
          <p:nvPr/>
        </p:nvSpPr>
        <p:spPr>
          <a:xfrm>
            <a:off x="714424" y="3336145"/>
            <a:ext cx="1397100" cy="13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900">
                <a:solidFill>
                  <a:srgbClr val="EFF8FF"/>
                </a:solidFill>
                <a:latin typeface="Lato"/>
                <a:ea typeface="Lato"/>
                <a:cs typeface="Lato"/>
                <a:sym typeface="Lato"/>
              </a:rPr>
              <a:t>t-test</a:t>
            </a:r>
            <a:endParaRPr/>
          </a:p>
        </p:txBody>
      </p:sp>
      <p:sp>
        <p:nvSpPr>
          <p:cNvPr id="322" name="Google Shape;322;p22"/>
          <p:cNvSpPr txBox="1"/>
          <p:nvPr/>
        </p:nvSpPr>
        <p:spPr>
          <a:xfrm>
            <a:off x="2540099" y="2983720"/>
            <a:ext cx="13971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800" u="none" cap="none" strike="noStrike">
                <a:solidFill>
                  <a:srgbClr val="FFFFFF"/>
                </a:solidFill>
                <a:latin typeface="Poppins"/>
                <a:ea typeface="Poppins"/>
                <a:cs typeface="Poppins"/>
                <a:sym typeface="Poppins"/>
              </a:rPr>
              <a:t>REJECT H₀</a:t>
            </a:r>
            <a:endParaRPr/>
          </a:p>
        </p:txBody>
      </p:sp>
      <p:sp>
        <p:nvSpPr>
          <p:cNvPr id="323" name="Google Shape;323;p22"/>
          <p:cNvSpPr txBox="1"/>
          <p:nvPr/>
        </p:nvSpPr>
        <p:spPr>
          <a:xfrm>
            <a:off x="2540099" y="3307570"/>
            <a:ext cx="1397100" cy="13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900" u="none" cap="none" strike="noStrike">
                <a:solidFill>
                  <a:srgbClr val="021B2E"/>
                </a:solidFill>
                <a:latin typeface="Lato"/>
                <a:ea typeface="Lato"/>
                <a:cs typeface="Lato"/>
                <a:sym typeface="Lato"/>
              </a:rPr>
              <a:t>DECISION</a:t>
            </a:r>
            <a:endParaRPr/>
          </a:p>
        </p:txBody>
      </p:sp>
      <p:sp>
        <p:nvSpPr>
          <p:cNvPr id="324" name="Google Shape;324;p22"/>
          <p:cNvSpPr/>
          <p:nvPr/>
        </p:nvSpPr>
        <p:spPr>
          <a:xfrm>
            <a:off x="819963" y="4030594"/>
            <a:ext cx="4942800" cy="1820400"/>
          </a:xfrm>
          <a:prstGeom prst="roundRect">
            <a:avLst>
              <a:gd fmla="val 6722" name="adj"/>
            </a:avLst>
          </a:prstGeom>
          <a:solidFill>
            <a:srgbClr val="FFFFFF"/>
          </a:solid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1200"/>
              </a:spcAft>
              <a:buSzPts val="1100"/>
              <a:buNone/>
            </a:pPr>
            <a:r>
              <a:rPr lang="en-US" sz="1600">
                <a:solidFill>
                  <a:srgbClr val="434343"/>
                </a:solidFill>
              </a:rPr>
              <a:t>The t-test shows a significant difference in battery capacity between healthy and degraded batteries. Since p &lt; 0.05 (p ≈ 0), we reject H₀. This means that health class significantly affects battery capacity, with healthy batteries averaging 1.65 Ah compared to 0.96 Ah for degraded ones.</a:t>
            </a:r>
            <a:endParaRPr sz="1800">
              <a:solidFill>
                <a:schemeClr val="dk1"/>
              </a:solidFill>
              <a:latin typeface="Calibri"/>
              <a:ea typeface="Calibri"/>
              <a:cs typeface="Calibri"/>
              <a:sym typeface="Calibri"/>
            </a:endParaRPr>
          </a:p>
        </p:txBody>
      </p:sp>
      <p:sp>
        <p:nvSpPr>
          <p:cNvPr id="325" name="Google Shape;325;p22"/>
          <p:cNvSpPr/>
          <p:nvPr/>
        </p:nvSpPr>
        <p:spPr>
          <a:xfrm>
            <a:off x="819138" y="4030575"/>
            <a:ext cx="38100" cy="1820400"/>
          </a:xfrm>
          <a:prstGeom prst="rect">
            <a:avLst/>
          </a:prstGeom>
          <a:solidFill>
            <a:srgbClr val="0DB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22"/>
          <p:cNvSpPr txBox="1"/>
          <p:nvPr/>
        </p:nvSpPr>
        <p:spPr>
          <a:xfrm>
            <a:off x="571500" y="714375"/>
            <a:ext cx="11601600" cy="4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2850">
                <a:solidFill>
                  <a:srgbClr val="021B2E"/>
                </a:solidFill>
                <a:latin typeface="Poppins SemiBold"/>
                <a:ea typeface="Poppins SemiBold"/>
                <a:cs typeface="Poppins SemiBold"/>
                <a:sym typeface="Poppins SemiBold"/>
              </a:rPr>
              <a:t>Hypothesis Test 2 — t-test: Health Class</a:t>
            </a:r>
            <a:endParaRPr sz="2850">
              <a:solidFill>
                <a:srgbClr val="021B2E"/>
              </a:solidFill>
              <a:latin typeface="Poppins SemiBold"/>
              <a:ea typeface="Poppins SemiBold"/>
              <a:cs typeface="Poppins SemiBold"/>
              <a:sym typeface="Poppins SemiBold"/>
            </a:endParaRPr>
          </a:p>
        </p:txBody>
      </p:sp>
      <p:pic>
        <p:nvPicPr>
          <p:cNvPr descr="image.png" id="327" name="Google Shape;327;p22"/>
          <p:cNvPicPr preferRelativeResize="0"/>
          <p:nvPr/>
        </p:nvPicPr>
        <p:blipFill rotWithShape="1">
          <a:blip r:embed="rId7">
            <a:alphaModFix/>
          </a:blip>
          <a:srcRect b="0" l="0" r="0" t="0"/>
          <a:stretch/>
        </p:blipFill>
        <p:spPr>
          <a:xfrm>
            <a:off x="795325" y="4030575"/>
            <a:ext cx="85725" cy="290681"/>
          </a:xfrm>
          <a:prstGeom prst="rect">
            <a:avLst/>
          </a:prstGeom>
          <a:noFill/>
          <a:ln>
            <a:noFill/>
          </a:ln>
        </p:spPr>
      </p:pic>
      <p:sp>
        <p:nvSpPr>
          <p:cNvPr id="328" name="Google Shape;328;p22"/>
          <p:cNvSpPr txBox="1"/>
          <p:nvPr/>
        </p:nvSpPr>
        <p:spPr>
          <a:xfrm>
            <a:off x="3165050" y="1874475"/>
            <a:ext cx="56202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t/>
            </a:r>
            <a:endParaRPr sz="1200">
              <a:solidFill>
                <a:schemeClr val="dk1"/>
              </a:solidFill>
            </a:endParaRPr>
          </a:p>
        </p:txBody>
      </p:sp>
      <p:pic>
        <p:nvPicPr>
          <p:cNvPr descr="image.png" id="329" name="Google Shape;329;p22"/>
          <p:cNvPicPr preferRelativeResize="0"/>
          <p:nvPr/>
        </p:nvPicPr>
        <p:blipFill rotWithShape="1">
          <a:blip r:embed="rId8">
            <a:alphaModFix/>
          </a:blip>
          <a:srcRect b="0" l="0" r="0" t="0"/>
          <a:stretch/>
        </p:blipFill>
        <p:spPr>
          <a:xfrm>
            <a:off x="771525" y="1825664"/>
            <a:ext cx="3430934" cy="176956"/>
          </a:xfrm>
          <a:prstGeom prst="rect">
            <a:avLst/>
          </a:prstGeom>
          <a:noFill/>
          <a:ln>
            <a:noFill/>
          </a:ln>
        </p:spPr>
      </p:pic>
      <p:pic>
        <p:nvPicPr>
          <p:cNvPr descr="image.png" id="330" name="Google Shape;330;p22"/>
          <p:cNvPicPr preferRelativeResize="0"/>
          <p:nvPr/>
        </p:nvPicPr>
        <p:blipFill rotWithShape="1">
          <a:blip r:embed="rId9">
            <a:alphaModFix/>
          </a:blip>
          <a:srcRect b="0" l="0" r="0" t="0"/>
          <a:stretch/>
        </p:blipFill>
        <p:spPr>
          <a:xfrm>
            <a:off x="795338" y="2093731"/>
            <a:ext cx="3383309" cy="176956"/>
          </a:xfrm>
          <a:prstGeom prst="rect">
            <a:avLst/>
          </a:prstGeom>
          <a:noFill/>
          <a:ln>
            <a:noFill/>
          </a:ln>
        </p:spPr>
      </p:pic>
      <p:pic>
        <p:nvPicPr>
          <p:cNvPr id="331" name="Google Shape;331;p22"/>
          <p:cNvPicPr preferRelativeResize="0"/>
          <p:nvPr/>
        </p:nvPicPr>
        <p:blipFill>
          <a:blip r:embed="rId10">
            <a:alphaModFix/>
          </a:blip>
          <a:stretch>
            <a:fillRect/>
          </a:stretch>
        </p:blipFill>
        <p:spPr>
          <a:xfrm>
            <a:off x="6185351" y="2002625"/>
            <a:ext cx="5755326" cy="3479075"/>
          </a:xfrm>
          <a:prstGeom prst="rect">
            <a:avLst/>
          </a:prstGeom>
          <a:noFill/>
          <a:ln>
            <a:noFill/>
          </a:ln>
        </p:spPr>
      </p:pic>
      <p:pic>
        <p:nvPicPr>
          <p:cNvPr descr="image.png" id="332" name="Google Shape;332;p22"/>
          <p:cNvPicPr preferRelativeResize="0"/>
          <p:nvPr/>
        </p:nvPicPr>
        <p:blipFill rotWithShape="1">
          <a:blip r:embed="rId11">
            <a:alphaModFix/>
          </a:blip>
          <a:srcRect b="0" l="0" r="0" t="0"/>
          <a:stretch/>
        </p:blipFill>
        <p:spPr>
          <a:xfrm>
            <a:off x="4291288" y="2780763"/>
            <a:ext cx="1682799" cy="828675"/>
          </a:xfrm>
          <a:prstGeom prst="rect">
            <a:avLst/>
          </a:prstGeom>
          <a:noFill/>
          <a:ln>
            <a:noFill/>
          </a:ln>
        </p:spPr>
      </p:pic>
      <p:sp>
        <p:nvSpPr>
          <p:cNvPr id="333" name="Google Shape;333;p22"/>
          <p:cNvSpPr txBox="1"/>
          <p:nvPr/>
        </p:nvSpPr>
        <p:spPr>
          <a:xfrm>
            <a:off x="4434163" y="2923638"/>
            <a:ext cx="1397100" cy="369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2400">
                <a:solidFill>
                  <a:srgbClr val="FFFFFF"/>
                </a:solidFill>
                <a:latin typeface="Poppins"/>
                <a:ea typeface="Poppins"/>
                <a:cs typeface="Poppins"/>
                <a:sym typeface="Poppins"/>
              </a:rPr>
              <a:t>0.000</a:t>
            </a:r>
            <a:endParaRPr/>
          </a:p>
        </p:txBody>
      </p:sp>
      <p:sp>
        <p:nvSpPr>
          <p:cNvPr id="334" name="Google Shape;334;p22"/>
          <p:cNvSpPr txBox="1"/>
          <p:nvPr/>
        </p:nvSpPr>
        <p:spPr>
          <a:xfrm>
            <a:off x="4434163" y="3323688"/>
            <a:ext cx="1397100" cy="13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900">
                <a:solidFill>
                  <a:srgbClr val="EFF8FF"/>
                </a:solidFill>
                <a:latin typeface="Lato"/>
                <a:ea typeface="Lato"/>
                <a:cs typeface="Lato"/>
                <a:sym typeface="Lato"/>
              </a:rPr>
              <a:t>p_value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descr="image.png" id="339" name="Google Shape;339;p23"/>
          <p:cNvPicPr preferRelativeResize="0"/>
          <p:nvPr/>
        </p:nvPicPr>
        <p:blipFill rotWithShape="1">
          <a:blip r:embed="rId3">
            <a:alphaModFix/>
          </a:blip>
          <a:srcRect b="0" l="0" r="0" t="0"/>
          <a:stretch/>
        </p:blipFill>
        <p:spPr>
          <a:xfrm>
            <a:off x="3780" y="11616"/>
            <a:ext cx="12192000" cy="6858000"/>
          </a:xfrm>
          <a:prstGeom prst="rect">
            <a:avLst/>
          </a:prstGeom>
          <a:noFill/>
          <a:ln>
            <a:noFill/>
          </a:ln>
        </p:spPr>
      </p:pic>
      <p:sp>
        <p:nvSpPr>
          <p:cNvPr id="340" name="Google Shape;340;p23"/>
          <p:cNvSpPr/>
          <p:nvPr/>
        </p:nvSpPr>
        <p:spPr>
          <a:xfrm>
            <a:off x="9535566" y="1895475"/>
            <a:ext cx="2075408"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23"/>
          <p:cNvSpPr/>
          <p:nvPr/>
        </p:nvSpPr>
        <p:spPr>
          <a:xfrm>
            <a:off x="6130700" y="4672100"/>
            <a:ext cx="5251200" cy="1358700"/>
          </a:xfrm>
          <a:prstGeom prst="roundRect">
            <a:avLst>
              <a:gd fmla="val 6722"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rgbClr val="434343"/>
                </a:solidFill>
              </a:rPr>
              <a:t>Capacity shows relatively low variance </a:t>
            </a:r>
            <a:r>
              <a:rPr lang="en-US" sz="1600">
                <a:solidFill>
                  <a:srgbClr val="434343"/>
                </a:solidFill>
              </a:rPr>
              <a:t>as a target variable, making it a stable and predictable output for regression. However, the presence of low-capacity outliers near 0 Ah signals degraded batteries that the model must account for.</a:t>
            </a:r>
            <a:endParaRPr sz="1600">
              <a:solidFill>
                <a:srgbClr val="434343"/>
              </a:solidFill>
            </a:endParaRPr>
          </a:p>
        </p:txBody>
      </p:sp>
      <p:sp>
        <p:nvSpPr>
          <p:cNvPr id="342" name="Google Shape;342;p23"/>
          <p:cNvSpPr/>
          <p:nvPr/>
        </p:nvSpPr>
        <p:spPr>
          <a:xfrm>
            <a:off x="6092601" y="4695384"/>
            <a:ext cx="38100" cy="1335300"/>
          </a:xfrm>
          <a:prstGeom prst="rect">
            <a:avLst/>
          </a:prstGeom>
          <a:solidFill>
            <a:srgbClr val="0DB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3"/>
          <p:cNvSpPr/>
          <p:nvPr/>
        </p:nvSpPr>
        <p:spPr>
          <a:xfrm>
            <a:off x="6296025" y="2466975"/>
            <a:ext cx="1464171"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23"/>
          <p:cNvSpPr/>
          <p:nvPr/>
        </p:nvSpPr>
        <p:spPr>
          <a:xfrm>
            <a:off x="7760196" y="2466975"/>
            <a:ext cx="1775370"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23"/>
          <p:cNvSpPr/>
          <p:nvPr/>
        </p:nvSpPr>
        <p:spPr>
          <a:xfrm>
            <a:off x="9535566" y="2466975"/>
            <a:ext cx="2075408"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6" name="Google Shape;346;p23"/>
          <p:cNvSpPr/>
          <p:nvPr/>
        </p:nvSpPr>
        <p:spPr>
          <a:xfrm>
            <a:off x="6296025" y="3038475"/>
            <a:ext cx="1464171"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23"/>
          <p:cNvSpPr/>
          <p:nvPr/>
        </p:nvSpPr>
        <p:spPr>
          <a:xfrm>
            <a:off x="7760196" y="3038475"/>
            <a:ext cx="1775370"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8" name="Google Shape;348;p23"/>
          <p:cNvSpPr/>
          <p:nvPr/>
        </p:nvSpPr>
        <p:spPr>
          <a:xfrm>
            <a:off x="9535566" y="3038475"/>
            <a:ext cx="2075408"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23"/>
          <p:cNvSpPr/>
          <p:nvPr/>
        </p:nvSpPr>
        <p:spPr>
          <a:xfrm>
            <a:off x="6296025" y="3609975"/>
            <a:ext cx="1464171"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0" name="Google Shape;350;p23"/>
          <p:cNvSpPr/>
          <p:nvPr/>
        </p:nvSpPr>
        <p:spPr>
          <a:xfrm>
            <a:off x="7760196" y="3609975"/>
            <a:ext cx="1775370"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1" name="Google Shape;351;p23"/>
          <p:cNvSpPr/>
          <p:nvPr/>
        </p:nvSpPr>
        <p:spPr>
          <a:xfrm>
            <a:off x="9535566" y="3609975"/>
            <a:ext cx="2075408"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2" name="Google Shape;352;p23"/>
          <p:cNvSpPr txBox="1"/>
          <p:nvPr/>
        </p:nvSpPr>
        <p:spPr>
          <a:xfrm>
            <a:off x="571500" y="357187"/>
            <a:ext cx="116016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50">
                <a:solidFill>
                  <a:srgbClr val="021B2E"/>
                </a:solidFill>
                <a:latin typeface="Poppins SemiBold"/>
                <a:ea typeface="Poppins SemiBold"/>
                <a:cs typeface="Poppins SemiBold"/>
                <a:sym typeface="Poppins SemiBold"/>
              </a:rPr>
              <a:t>Mean &amp; Variance </a:t>
            </a:r>
            <a:r>
              <a:rPr b="0" i="0" lang="en-US" sz="2850" u="none" cap="none" strike="noStrike">
                <a:solidFill>
                  <a:srgbClr val="021B2E"/>
                </a:solidFill>
                <a:latin typeface="Poppins SemiBold"/>
                <a:ea typeface="Poppins SemiBold"/>
                <a:cs typeface="Poppins SemiBold"/>
                <a:sym typeface="Poppins SemiBold"/>
              </a:rPr>
              <a:t>Confidence Intervals </a:t>
            </a:r>
            <a:endParaRPr/>
          </a:p>
        </p:txBody>
      </p:sp>
      <p:sp>
        <p:nvSpPr>
          <p:cNvPr id="353" name="Google Shape;353;p23"/>
          <p:cNvSpPr/>
          <p:nvPr/>
        </p:nvSpPr>
        <p:spPr>
          <a:xfrm>
            <a:off x="502132" y="4672113"/>
            <a:ext cx="5334000" cy="1358700"/>
          </a:xfrm>
          <a:prstGeom prst="roundRect">
            <a:avLst>
              <a:gd fmla="val 6722"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700">
                <a:solidFill>
                  <a:srgbClr val="434343"/>
                </a:solidFill>
              </a:rPr>
              <a:t>The mean Capacity is 1.3265 Ah, </a:t>
            </a:r>
            <a:r>
              <a:rPr lang="en-US" sz="1700">
                <a:solidFill>
                  <a:srgbClr val="434343"/>
                </a:solidFill>
              </a:rPr>
              <a:t>with a tight 95% CI of [1.3089, 1.3442], indicating a well-estimated and statistically stable central tendency across all battery cycles.</a:t>
            </a:r>
            <a:endParaRPr i="0" sz="2400" u="none" cap="none" strike="noStrike">
              <a:solidFill>
                <a:srgbClr val="434343"/>
              </a:solidFill>
              <a:latin typeface="Calibri"/>
              <a:ea typeface="Calibri"/>
              <a:cs typeface="Calibri"/>
              <a:sym typeface="Calibri"/>
            </a:endParaRPr>
          </a:p>
        </p:txBody>
      </p:sp>
      <p:sp>
        <p:nvSpPr>
          <p:cNvPr id="354" name="Google Shape;354;p23"/>
          <p:cNvSpPr/>
          <p:nvPr/>
        </p:nvSpPr>
        <p:spPr>
          <a:xfrm>
            <a:off x="455275" y="4672098"/>
            <a:ext cx="38100" cy="1358700"/>
          </a:xfrm>
          <a:prstGeom prst="rect">
            <a:avLst/>
          </a:prstGeom>
          <a:solidFill>
            <a:srgbClr val="0DB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55" name="Google Shape;355;p23"/>
          <p:cNvPicPr preferRelativeResize="0"/>
          <p:nvPr/>
        </p:nvPicPr>
        <p:blipFill>
          <a:blip r:embed="rId4">
            <a:alphaModFix/>
          </a:blip>
          <a:stretch>
            <a:fillRect/>
          </a:stretch>
        </p:blipFill>
        <p:spPr>
          <a:xfrm>
            <a:off x="519512" y="1119200"/>
            <a:ext cx="11184276" cy="2970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descr="image.png" id="360" name="Google Shape;360;p24"/>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361" name="Google Shape;361;p24"/>
          <p:cNvGraphicFramePr/>
          <p:nvPr/>
        </p:nvGraphicFramePr>
        <p:xfrm>
          <a:off x="1926425" y="1257375"/>
          <a:ext cx="3000000" cy="3000000"/>
        </p:xfrm>
        <a:graphic>
          <a:graphicData uri="http://schemas.openxmlformats.org/drawingml/2006/table">
            <a:tbl>
              <a:tblPr bandRow="1" firstRow="1">
                <a:noFill/>
                <a:tableStyleId>{8042AEBC-0977-4489-A038-1669289F0651}</a:tableStyleId>
              </a:tblPr>
              <a:tblGrid>
                <a:gridCol w="2137500"/>
                <a:gridCol w="2137500"/>
                <a:gridCol w="2045075"/>
                <a:gridCol w="2019075"/>
              </a:tblGrid>
              <a:tr h="463625">
                <a:tc>
                  <a:txBody>
                    <a:bodyPr/>
                    <a:lstStyle/>
                    <a:p>
                      <a:pPr indent="0" lvl="0" marL="0" marR="0" rtl="0" algn="ctr">
                        <a:spcBef>
                          <a:spcPts val="0"/>
                        </a:spcBef>
                        <a:spcAft>
                          <a:spcPts val="0"/>
                        </a:spcAft>
                        <a:buNone/>
                      </a:pPr>
                      <a:r>
                        <a:rPr b="0" i="0" lang="en-US" sz="1300" u="none" cap="none" strike="noStrike">
                          <a:solidFill>
                            <a:srgbClr val="FFFFFF"/>
                          </a:solidFill>
                          <a:latin typeface="Arial"/>
                          <a:ea typeface="Arial"/>
                          <a:cs typeface="Arial"/>
                          <a:sym typeface="Arial"/>
                        </a:rPr>
                        <a:t>Approach</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3B66"/>
                    </a:solidFill>
                  </a:tcPr>
                </a:tc>
                <a:tc>
                  <a:txBody>
                    <a:bodyPr/>
                    <a:lstStyle/>
                    <a:p>
                      <a:pPr indent="0" lvl="0" marL="0" marR="0" rtl="0" algn="ctr">
                        <a:spcBef>
                          <a:spcPts val="0"/>
                        </a:spcBef>
                        <a:spcAft>
                          <a:spcPts val="0"/>
                        </a:spcAft>
                        <a:buNone/>
                      </a:pPr>
                      <a:r>
                        <a:rPr b="0" lang="en-US" sz="1300">
                          <a:solidFill>
                            <a:srgbClr val="FFFFFF"/>
                          </a:solidFill>
                          <a:latin typeface="Arial"/>
                          <a:ea typeface="Arial"/>
                          <a:cs typeface="Arial"/>
                          <a:sym typeface="Arial"/>
                        </a:rPr>
                        <a:t>Task</a:t>
                      </a:r>
                      <a:endParaRPr b="0" i="0" sz="1300" u="none" cap="none" strike="noStrike">
                        <a:solidFill>
                          <a:srgbClr val="FFFFFF"/>
                        </a:solidFill>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3B66"/>
                    </a:solidFill>
                  </a:tcPr>
                </a:tc>
                <a:tc>
                  <a:txBody>
                    <a:bodyPr/>
                    <a:lstStyle/>
                    <a:p>
                      <a:pPr indent="0" lvl="0" marL="0" marR="0" rtl="0" algn="ctr">
                        <a:spcBef>
                          <a:spcPts val="0"/>
                        </a:spcBef>
                        <a:spcAft>
                          <a:spcPts val="0"/>
                        </a:spcAft>
                        <a:buNone/>
                      </a:pPr>
                      <a:r>
                        <a:rPr b="0" lang="en-US" sz="1300">
                          <a:solidFill>
                            <a:srgbClr val="FFFFFF"/>
                          </a:solidFill>
                          <a:latin typeface="Arial"/>
                          <a:ea typeface="Arial"/>
                          <a:cs typeface="Arial"/>
                          <a:sym typeface="Arial"/>
                        </a:rPr>
                        <a:t>Models </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3B66"/>
                    </a:solidFill>
                  </a:tcPr>
                </a:tc>
                <a:tc>
                  <a:txBody>
                    <a:bodyPr/>
                    <a:lstStyle/>
                    <a:p>
                      <a:pPr indent="0" lvl="0" marL="0" marR="0" rtl="0" algn="ctr">
                        <a:spcBef>
                          <a:spcPts val="0"/>
                        </a:spcBef>
                        <a:spcAft>
                          <a:spcPts val="0"/>
                        </a:spcAft>
                        <a:buNone/>
                      </a:pPr>
                      <a:r>
                        <a:rPr b="0" i="0" lang="en-US" sz="1300" u="none" cap="none" strike="noStrike">
                          <a:solidFill>
                            <a:srgbClr val="FFFFFF"/>
                          </a:solidFill>
                          <a:latin typeface="Arial"/>
                          <a:ea typeface="Arial"/>
                          <a:cs typeface="Arial"/>
                          <a:sym typeface="Arial"/>
                        </a:rPr>
                        <a:t>Reported Acc.</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3B66"/>
                    </a:solidFill>
                  </a:tcPr>
                </a:tc>
              </a:tr>
              <a:tr h="1204150">
                <a:tc>
                  <a:txBody>
                    <a:bodyPr/>
                    <a:lstStyle/>
                    <a:p>
                      <a:pPr indent="0" lvl="0" marL="0" marR="0" rtl="0" algn="l">
                        <a:spcBef>
                          <a:spcPts val="0"/>
                        </a:spcBef>
                        <a:spcAft>
                          <a:spcPts val="0"/>
                        </a:spcAft>
                        <a:buNone/>
                      </a:pPr>
                      <a:r>
                        <a:rPr lang="en-US" sz="1300">
                          <a:latin typeface="Arial"/>
                          <a:ea typeface="Arial"/>
                          <a:cs typeface="Arial"/>
                          <a:sym typeface="Arial"/>
                        </a:rPr>
                        <a:t>ML Comparative Review </a:t>
                      </a:r>
                      <a:r>
                        <a:rPr lang="en-US" sz="1300" u="sng">
                          <a:solidFill>
                            <a:schemeClr val="hlink"/>
                          </a:solidFill>
                          <a:latin typeface="Arial"/>
                          <a:ea typeface="Arial"/>
                          <a:cs typeface="Arial"/>
                          <a:sym typeface="Arial"/>
                          <a:hlinkClick r:id="rId4"/>
                        </a:rPr>
                        <a:t>[1]</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300">
                          <a:latin typeface="Arial"/>
                          <a:ea typeface="Arial"/>
                          <a:cs typeface="Arial"/>
                          <a:sym typeface="Arial"/>
                        </a:rPr>
                        <a:t>Regression - SOH estimation</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300">
                          <a:latin typeface="Arial"/>
                          <a:ea typeface="Arial"/>
                          <a:cs typeface="Arial"/>
                          <a:sym typeface="Arial"/>
                        </a:rPr>
                        <a:t>SVR, Random Forest, CNN, LSTM </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300">
                          <a:latin typeface="Arial"/>
                          <a:ea typeface="Arial"/>
                          <a:cs typeface="Arial"/>
                          <a:sym typeface="Arial"/>
                        </a:rPr>
                        <a:t>LSTM: R²=0.980· SVR: weakest performer </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08025">
                <a:tc>
                  <a:txBody>
                    <a:bodyPr/>
                    <a:lstStyle/>
                    <a:p>
                      <a:pPr indent="0" lvl="0" marL="0" marR="0" rtl="0" algn="l">
                        <a:spcBef>
                          <a:spcPts val="0"/>
                        </a:spcBef>
                        <a:spcAft>
                          <a:spcPts val="0"/>
                        </a:spcAft>
                        <a:buNone/>
                      </a:pPr>
                      <a:r>
                        <a:rPr lang="en-US" sz="1300">
                          <a:latin typeface="Arial"/>
                          <a:ea typeface="Arial"/>
                          <a:cs typeface="Arial"/>
                          <a:sym typeface="Arial"/>
                        </a:rPr>
                        <a:t>Battery-Insight-PSO </a:t>
                      </a:r>
                      <a:r>
                        <a:rPr lang="en-US" sz="1300" u="sng">
                          <a:solidFill>
                            <a:schemeClr val="hlink"/>
                          </a:solidFill>
                          <a:latin typeface="Arial"/>
                          <a:ea typeface="Arial"/>
                          <a:cs typeface="Arial"/>
                          <a:sym typeface="Arial"/>
                          <a:hlinkClick r:id="rId5"/>
                        </a:rPr>
                        <a:t>[2] </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rtl="0" algn="l">
                        <a:spcBef>
                          <a:spcPts val="0"/>
                        </a:spcBef>
                        <a:spcAft>
                          <a:spcPts val="0"/>
                        </a:spcAft>
                        <a:buNone/>
                      </a:pPr>
                      <a:r>
                        <a:rPr lang="en-US" sz="1300">
                          <a:latin typeface="Arial"/>
                          <a:ea typeface="Arial"/>
                          <a:cs typeface="Arial"/>
                          <a:sym typeface="Arial"/>
                        </a:rPr>
                        <a:t>Regression - RUL &amp; SOH estimation</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lang="en-US" sz="1300">
                          <a:latin typeface="Arial"/>
                          <a:ea typeface="Arial"/>
                          <a:cs typeface="Arial"/>
                          <a:sym typeface="Arial"/>
                        </a:rPr>
                        <a:t>CEEMDAN + SVR + SSA-LSTM </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lang="en-US" sz="1300">
                          <a:latin typeface="Arial"/>
                          <a:ea typeface="Arial"/>
                          <a:cs typeface="Arial"/>
                          <a:sym typeface="Arial"/>
                        </a:rPr>
                        <a:t>R²&gt;0.96 </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1397150">
                <a:tc>
                  <a:txBody>
                    <a:bodyPr/>
                    <a:lstStyle/>
                    <a:p>
                      <a:pPr indent="0" lvl="0" marL="0" marR="0" rtl="0" algn="l">
                        <a:spcBef>
                          <a:spcPts val="0"/>
                        </a:spcBef>
                        <a:spcAft>
                          <a:spcPts val="0"/>
                        </a:spcAft>
                        <a:buNone/>
                      </a:pPr>
                      <a:r>
                        <a:rPr lang="en-US" sz="1300">
                          <a:latin typeface="Arial"/>
                          <a:ea typeface="Arial"/>
                          <a:cs typeface="Arial"/>
                          <a:sym typeface="Arial"/>
                        </a:rPr>
                        <a:t>Deep Learning Study </a:t>
                      </a:r>
                      <a:r>
                        <a:rPr lang="en-US" sz="1300" u="sng">
                          <a:solidFill>
                            <a:schemeClr val="hlink"/>
                          </a:solidFill>
                          <a:latin typeface="Arial"/>
                          <a:ea typeface="Arial"/>
                          <a:cs typeface="Arial"/>
                          <a:sym typeface="Arial"/>
                          <a:hlinkClick r:id="rId6"/>
                        </a:rPr>
                        <a:t>[3]</a:t>
                      </a:r>
                      <a:r>
                        <a:rPr lang="en-US" sz="1300">
                          <a:latin typeface="Arial"/>
                          <a:ea typeface="Arial"/>
                          <a:cs typeface="Arial"/>
                          <a:sym typeface="Arial"/>
                        </a:rPr>
                        <a:t> </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US" sz="1300">
                          <a:latin typeface="Arial"/>
                          <a:ea typeface="Arial"/>
                          <a:cs typeface="Arial"/>
                          <a:sym typeface="Arial"/>
                        </a:rPr>
                        <a:t>Regression - SOH estimation</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300">
                          <a:latin typeface="Arial"/>
                          <a:ea typeface="Arial"/>
                          <a:cs typeface="Arial"/>
                          <a:sym typeface="Arial"/>
                        </a:rPr>
                        <a:t>MLP, GRU, LSTM, TCN</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300">
                          <a:latin typeface="Arial"/>
                          <a:ea typeface="Arial"/>
                          <a:cs typeface="Arial"/>
                          <a:sym typeface="Arial"/>
                        </a:rPr>
                        <a:t>MLP best: R²=0.9955, GRU &amp; LSTM slower with no accuracy gain </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011100">
                <a:tc>
                  <a:txBody>
                    <a:bodyPr/>
                    <a:lstStyle/>
                    <a:p>
                      <a:pPr indent="0" lvl="0" marL="0" marR="0" rtl="0" algn="l">
                        <a:spcBef>
                          <a:spcPts val="0"/>
                        </a:spcBef>
                        <a:spcAft>
                          <a:spcPts val="0"/>
                        </a:spcAft>
                        <a:buNone/>
                      </a:pPr>
                      <a:r>
                        <a:rPr i="0" lang="en-US" sz="1300" u="none" cap="none" strike="noStrike">
                          <a:latin typeface="Arial"/>
                          <a:ea typeface="Arial"/>
                          <a:cs typeface="Arial"/>
                          <a:sym typeface="Arial"/>
                        </a:rPr>
                        <a:t>Our Approach</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8FF"/>
                    </a:solidFill>
                  </a:tcPr>
                </a:tc>
                <a:tc>
                  <a:txBody>
                    <a:bodyPr/>
                    <a:lstStyle/>
                    <a:p>
                      <a:pPr indent="0" lvl="0" marL="0" marR="0" rtl="0" algn="l">
                        <a:spcBef>
                          <a:spcPts val="0"/>
                        </a:spcBef>
                        <a:spcAft>
                          <a:spcPts val="0"/>
                        </a:spcAft>
                        <a:buNone/>
                      </a:pPr>
                      <a:r>
                        <a:rPr lang="en-US" sz="1300">
                          <a:latin typeface="Arial"/>
                          <a:ea typeface="Arial"/>
                          <a:cs typeface="Arial"/>
                          <a:sym typeface="Arial"/>
                        </a:rPr>
                        <a:t>Regression</a:t>
                      </a:r>
                      <a:endParaRPr sz="1300">
                        <a:latin typeface="Arial"/>
                        <a:ea typeface="Arial"/>
                        <a:cs typeface="Arial"/>
                        <a:sym typeface="Arial"/>
                      </a:endParaRPr>
                    </a:p>
                    <a:p>
                      <a:pPr indent="0" lvl="0" marL="0" marR="0" rtl="0" algn="l">
                        <a:spcBef>
                          <a:spcPts val="0"/>
                        </a:spcBef>
                        <a:spcAft>
                          <a:spcPts val="0"/>
                        </a:spcAft>
                        <a:buNone/>
                      </a:pPr>
                      <a:r>
                        <a:rPr lang="en-US" sz="1300">
                          <a:latin typeface="Arial"/>
                          <a:ea typeface="Arial"/>
                          <a:cs typeface="Arial"/>
                          <a:sym typeface="Arial"/>
                        </a:rPr>
                        <a:t>Classification</a:t>
                      </a:r>
                      <a:endParaRPr sz="1300">
                        <a:latin typeface="Arial"/>
                        <a:ea typeface="Arial"/>
                        <a:cs typeface="Arial"/>
                        <a:sym typeface="Arial"/>
                      </a:endParaRPr>
                    </a:p>
                    <a:p>
                      <a:pPr indent="0" lvl="0" marL="0" marR="0" rtl="0" algn="l">
                        <a:spcBef>
                          <a:spcPts val="0"/>
                        </a:spcBef>
                        <a:spcAft>
                          <a:spcPts val="0"/>
                        </a:spcAft>
                        <a:buNone/>
                      </a:pPr>
                      <a:r>
                        <a:rPr lang="en-US" sz="1300">
                          <a:latin typeface="Arial"/>
                          <a:ea typeface="Arial"/>
                          <a:cs typeface="Arial"/>
                          <a:sym typeface="Arial"/>
                        </a:rPr>
                        <a:t>Clustering</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8FF"/>
                    </a:solidFill>
                  </a:tcPr>
                </a:tc>
                <a:tc>
                  <a:txBody>
                    <a:bodyPr/>
                    <a:lstStyle/>
                    <a:p>
                      <a:pPr indent="0" lvl="0" marL="0" marR="0" rtl="0" algn="l">
                        <a:spcBef>
                          <a:spcPts val="0"/>
                        </a:spcBef>
                        <a:spcAft>
                          <a:spcPts val="0"/>
                        </a:spcAft>
                        <a:buNone/>
                      </a:pPr>
                      <a:r>
                        <a:rPr lang="en-US" sz="1300">
                          <a:latin typeface="Arial"/>
                          <a:ea typeface="Arial"/>
                          <a:cs typeface="Arial"/>
                          <a:sym typeface="Arial"/>
                        </a:rPr>
                        <a:t>EDA + Statistics + PCA + Clustering + Regression + Classification </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8FF"/>
                    </a:solidFill>
                  </a:tcPr>
                </a:tc>
                <a:tc>
                  <a:txBody>
                    <a:bodyPr/>
                    <a:lstStyle/>
                    <a:p>
                      <a:pPr indent="0" lvl="0" marL="0" marR="0" rtl="0" algn="l">
                        <a:spcBef>
                          <a:spcPts val="0"/>
                        </a:spcBef>
                        <a:spcAft>
                          <a:spcPts val="0"/>
                        </a:spcAft>
                        <a:buNone/>
                      </a:pPr>
                      <a:r>
                        <a:rPr lang="en-US" sz="1300">
                          <a:latin typeface="Arial"/>
                          <a:ea typeface="Arial"/>
                          <a:cs typeface="Arial"/>
                          <a:sym typeface="Arial"/>
                        </a:rPr>
                        <a:t>Expected strong prediction with more complete and interpretable analysis </a:t>
                      </a:r>
                      <a:endParaRPr sz="1300">
                        <a:latin typeface="Arial"/>
                        <a:ea typeface="Arial"/>
                        <a:cs typeface="Arial"/>
                        <a:sym typeface="Aria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8FF"/>
                    </a:solidFill>
                  </a:tcPr>
                </a:tc>
              </a:tr>
            </a:tbl>
          </a:graphicData>
        </a:graphic>
      </p:graphicFrame>
      <p:sp>
        <p:nvSpPr>
          <p:cNvPr id="362" name="Google Shape;362;p24"/>
          <p:cNvSpPr/>
          <p:nvPr/>
        </p:nvSpPr>
        <p:spPr>
          <a:xfrm>
            <a:off x="6248400" y="2100262"/>
            <a:ext cx="1848296"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3" name="Google Shape;363;p24"/>
          <p:cNvSpPr/>
          <p:nvPr/>
        </p:nvSpPr>
        <p:spPr>
          <a:xfrm>
            <a:off x="8096696" y="2100262"/>
            <a:ext cx="1768375"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4" name="Google Shape;364;p24"/>
          <p:cNvSpPr/>
          <p:nvPr/>
        </p:nvSpPr>
        <p:spPr>
          <a:xfrm>
            <a:off x="6248400" y="2614612"/>
            <a:ext cx="1848296"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5" name="Google Shape;365;p24"/>
          <p:cNvSpPr/>
          <p:nvPr/>
        </p:nvSpPr>
        <p:spPr>
          <a:xfrm>
            <a:off x="6248400" y="2952737"/>
            <a:ext cx="18483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6" name="Google Shape;366;p24"/>
          <p:cNvSpPr/>
          <p:nvPr/>
        </p:nvSpPr>
        <p:spPr>
          <a:xfrm>
            <a:off x="8096696" y="2952737"/>
            <a:ext cx="17685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4"/>
          <p:cNvSpPr txBox="1"/>
          <p:nvPr/>
        </p:nvSpPr>
        <p:spPr>
          <a:xfrm>
            <a:off x="476250" y="381000"/>
            <a:ext cx="116016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21B2E"/>
                </a:solidFill>
                <a:latin typeface="Poppins SemiBold"/>
                <a:ea typeface="Poppins SemiBold"/>
                <a:cs typeface="Poppins SemiBold"/>
                <a:sym typeface="Poppins SemiBold"/>
              </a:rPr>
              <a:t>Expected Outcomes &amp; </a:t>
            </a:r>
            <a:r>
              <a:rPr b="0" i="0" lang="en-US" sz="2850" u="none" cap="none" strike="noStrike">
                <a:solidFill>
                  <a:srgbClr val="021B2E"/>
                </a:solidFill>
                <a:latin typeface="Poppins SemiBold"/>
                <a:ea typeface="Poppins SemiBold"/>
                <a:cs typeface="Poppins SemiBold"/>
                <a:sym typeface="Poppins SemiBold"/>
              </a:rPr>
              <a:t>Literature Comparison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descr="image.png" id="372" name="Google Shape;372;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73" name="Google Shape;373;p25"/>
          <p:cNvPicPr preferRelativeResize="0"/>
          <p:nvPr/>
        </p:nvPicPr>
        <p:blipFill rotWithShape="1">
          <a:blip r:embed="rId4">
            <a:alphaModFix/>
          </a:blip>
          <a:srcRect b="0" l="0" r="0" t="0"/>
          <a:stretch/>
        </p:blipFill>
        <p:spPr>
          <a:xfrm>
            <a:off x="571500" y="4271962"/>
            <a:ext cx="2099220" cy="1466850"/>
          </a:xfrm>
          <a:prstGeom prst="rect">
            <a:avLst/>
          </a:prstGeom>
          <a:noFill/>
          <a:ln>
            <a:noFill/>
          </a:ln>
        </p:spPr>
      </p:pic>
      <p:pic>
        <p:nvPicPr>
          <p:cNvPr descr="image.png" id="374" name="Google Shape;374;p25"/>
          <p:cNvPicPr preferRelativeResize="0"/>
          <p:nvPr/>
        </p:nvPicPr>
        <p:blipFill rotWithShape="1">
          <a:blip r:embed="rId5">
            <a:alphaModFix/>
          </a:blip>
          <a:srcRect b="0" l="0" r="0" t="0"/>
          <a:stretch/>
        </p:blipFill>
        <p:spPr>
          <a:xfrm>
            <a:off x="2808833" y="2138362"/>
            <a:ext cx="2099220" cy="1466850"/>
          </a:xfrm>
          <a:prstGeom prst="rect">
            <a:avLst/>
          </a:prstGeom>
          <a:noFill/>
          <a:ln>
            <a:noFill/>
          </a:ln>
        </p:spPr>
      </p:pic>
      <p:pic>
        <p:nvPicPr>
          <p:cNvPr descr="image.png" id="375" name="Google Shape;375;p25"/>
          <p:cNvPicPr preferRelativeResize="0"/>
          <p:nvPr/>
        </p:nvPicPr>
        <p:blipFill rotWithShape="1">
          <a:blip r:embed="rId6">
            <a:alphaModFix/>
          </a:blip>
          <a:srcRect b="0" l="0" r="0" t="0"/>
          <a:stretch/>
        </p:blipFill>
        <p:spPr>
          <a:xfrm>
            <a:off x="5046166" y="4271962"/>
            <a:ext cx="2099220" cy="1466850"/>
          </a:xfrm>
          <a:prstGeom prst="rect">
            <a:avLst/>
          </a:prstGeom>
          <a:noFill/>
          <a:ln>
            <a:noFill/>
          </a:ln>
        </p:spPr>
      </p:pic>
      <p:pic>
        <p:nvPicPr>
          <p:cNvPr descr="image.png" id="376" name="Google Shape;376;p25"/>
          <p:cNvPicPr preferRelativeResize="0"/>
          <p:nvPr/>
        </p:nvPicPr>
        <p:blipFill rotWithShape="1">
          <a:blip r:embed="rId6">
            <a:alphaModFix/>
          </a:blip>
          <a:srcRect b="0" l="0" r="0" t="0"/>
          <a:stretch/>
        </p:blipFill>
        <p:spPr>
          <a:xfrm>
            <a:off x="7283499" y="2138362"/>
            <a:ext cx="2099220" cy="1466850"/>
          </a:xfrm>
          <a:prstGeom prst="rect">
            <a:avLst/>
          </a:prstGeom>
          <a:noFill/>
          <a:ln>
            <a:noFill/>
          </a:ln>
        </p:spPr>
      </p:pic>
      <p:pic>
        <p:nvPicPr>
          <p:cNvPr descr="image.png" id="377" name="Google Shape;377;p25"/>
          <p:cNvPicPr preferRelativeResize="0"/>
          <p:nvPr/>
        </p:nvPicPr>
        <p:blipFill rotWithShape="1">
          <a:blip r:embed="rId7">
            <a:alphaModFix/>
          </a:blip>
          <a:srcRect b="0" l="0" r="0" t="0"/>
          <a:stretch/>
        </p:blipFill>
        <p:spPr>
          <a:xfrm>
            <a:off x="9520832" y="4271962"/>
            <a:ext cx="2099220" cy="1466850"/>
          </a:xfrm>
          <a:prstGeom prst="rect">
            <a:avLst/>
          </a:prstGeom>
          <a:noFill/>
          <a:ln>
            <a:noFill/>
          </a:ln>
        </p:spPr>
      </p:pic>
      <p:sp>
        <p:nvSpPr>
          <p:cNvPr id="378" name="Google Shape;378;p25"/>
          <p:cNvSpPr/>
          <p:nvPr/>
        </p:nvSpPr>
        <p:spPr>
          <a:xfrm>
            <a:off x="571500" y="3919537"/>
            <a:ext cx="11049000" cy="381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5"/>
          <p:cNvSpPr txBox="1"/>
          <p:nvPr/>
        </p:nvSpPr>
        <p:spPr>
          <a:xfrm>
            <a:off x="719044" y="4500562"/>
            <a:ext cx="1804131"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021B2E"/>
                </a:solidFill>
                <a:latin typeface="Poppins SemiBold"/>
                <a:ea typeface="Poppins SemiBold"/>
                <a:cs typeface="Poppins SemiBold"/>
                <a:sym typeface="Poppins SemiBold"/>
              </a:rPr>
              <a:t>PCA</a:t>
            </a:r>
            <a:endParaRPr/>
          </a:p>
        </p:txBody>
      </p:sp>
      <p:sp>
        <p:nvSpPr>
          <p:cNvPr id="380" name="Google Shape;380;p25"/>
          <p:cNvSpPr txBox="1"/>
          <p:nvPr/>
        </p:nvSpPr>
        <p:spPr>
          <a:xfrm>
            <a:off x="762000" y="4862512"/>
            <a:ext cx="171822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DB4B9"/>
                </a:solidFill>
                <a:latin typeface="Lato"/>
                <a:ea typeface="Lato"/>
                <a:cs typeface="Lato"/>
                <a:sym typeface="Lato"/>
              </a:rPr>
              <a:t>REDUCTION</a:t>
            </a:r>
            <a:endParaRPr/>
          </a:p>
        </p:txBody>
      </p:sp>
      <p:sp>
        <p:nvSpPr>
          <p:cNvPr id="381" name="Google Shape;381;p25"/>
          <p:cNvSpPr txBox="1"/>
          <p:nvPr/>
        </p:nvSpPr>
        <p:spPr>
          <a:xfrm>
            <a:off x="762000" y="5119687"/>
            <a:ext cx="1718100" cy="173100"/>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475569"/>
                </a:solidFill>
                <a:latin typeface="Lato"/>
                <a:ea typeface="Lato"/>
                <a:cs typeface="Lato"/>
                <a:sym typeface="Lato"/>
              </a:rPr>
              <a:t>Reduce 54 features. </a:t>
            </a:r>
            <a:endParaRPr/>
          </a:p>
        </p:txBody>
      </p:sp>
      <p:sp>
        <p:nvSpPr>
          <p:cNvPr id="382" name="Google Shape;382;p25"/>
          <p:cNvSpPr txBox="1"/>
          <p:nvPr/>
        </p:nvSpPr>
        <p:spPr>
          <a:xfrm>
            <a:off x="2956377" y="2366962"/>
            <a:ext cx="1804131"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021B2E"/>
                </a:solidFill>
                <a:latin typeface="Poppins SemiBold"/>
                <a:ea typeface="Poppins SemiBold"/>
                <a:cs typeface="Poppins SemiBold"/>
                <a:sym typeface="Poppins SemiBold"/>
              </a:rPr>
              <a:t>Clustering</a:t>
            </a:r>
            <a:endParaRPr/>
          </a:p>
        </p:txBody>
      </p:sp>
      <p:sp>
        <p:nvSpPr>
          <p:cNvPr id="383" name="Google Shape;383;p25"/>
          <p:cNvSpPr txBox="1"/>
          <p:nvPr/>
        </p:nvSpPr>
        <p:spPr>
          <a:xfrm>
            <a:off x="2999333" y="2728912"/>
            <a:ext cx="17181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50">
                <a:solidFill>
                  <a:srgbClr val="0DB4B9"/>
                </a:solidFill>
                <a:latin typeface="Lato"/>
                <a:ea typeface="Lato"/>
                <a:cs typeface="Lato"/>
                <a:sym typeface="Lato"/>
              </a:rPr>
              <a:t>K-Means (k=3) + DBSCAN </a:t>
            </a:r>
            <a:endParaRPr/>
          </a:p>
        </p:txBody>
      </p:sp>
      <p:sp>
        <p:nvSpPr>
          <p:cNvPr id="384" name="Google Shape;384;p25"/>
          <p:cNvSpPr txBox="1"/>
          <p:nvPr/>
        </p:nvSpPr>
        <p:spPr>
          <a:xfrm>
            <a:off x="2999333" y="2986087"/>
            <a:ext cx="1718220" cy="428625"/>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475569"/>
                </a:solidFill>
                <a:latin typeface="Lato"/>
                <a:ea typeface="Lato"/>
                <a:cs typeface="Lato"/>
                <a:sym typeface="Lato"/>
              </a:rPr>
              <a:t>Find hidden battery groups without labels.</a:t>
            </a:r>
            <a:endParaRPr/>
          </a:p>
        </p:txBody>
      </p:sp>
      <p:sp>
        <p:nvSpPr>
          <p:cNvPr id="385" name="Google Shape;385;p25"/>
          <p:cNvSpPr txBox="1"/>
          <p:nvPr/>
        </p:nvSpPr>
        <p:spPr>
          <a:xfrm>
            <a:off x="5193710" y="4500562"/>
            <a:ext cx="1804131"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021B2E"/>
                </a:solidFill>
                <a:latin typeface="Poppins SemiBold"/>
                <a:ea typeface="Poppins SemiBold"/>
                <a:cs typeface="Poppins SemiBold"/>
                <a:sym typeface="Poppins SemiBold"/>
              </a:rPr>
              <a:t>Regression</a:t>
            </a:r>
            <a:endParaRPr/>
          </a:p>
        </p:txBody>
      </p:sp>
      <p:sp>
        <p:nvSpPr>
          <p:cNvPr id="386" name="Google Shape;386;p25"/>
          <p:cNvSpPr txBox="1"/>
          <p:nvPr/>
        </p:nvSpPr>
        <p:spPr>
          <a:xfrm>
            <a:off x="5236666" y="4862512"/>
            <a:ext cx="17181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50">
                <a:solidFill>
                  <a:srgbClr val="0DB4B9"/>
                </a:solidFill>
                <a:latin typeface="Lato"/>
                <a:ea typeface="Lato"/>
                <a:cs typeface="Lato"/>
                <a:sym typeface="Lato"/>
              </a:rPr>
              <a:t>ANN (MLP) </a:t>
            </a:r>
            <a:endParaRPr/>
          </a:p>
        </p:txBody>
      </p:sp>
      <p:sp>
        <p:nvSpPr>
          <p:cNvPr id="387" name="Google Shape;387;p25"/>
          <p:cNvSpPr txBox="1"/>
          <p:nvPr/>
        </p:nvSpPr>
        <p:spPr>
          <a:xfrm>
            <a:off x="5236666" y="5119687"/>
            <a:ext cx="1718100" cy="432900"/>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475569"/>
                </a:solidFill>
                <a:latin typeface="Lato"/>
                <a:ea typeface="Lato"/>
                <a:cs typeface="Lato"/>
                <a:sym typeface="Lato"/>
              </a:rPr>
              <a:t>Predict continuous capacity. </a:t>
            </a:r>
            <a:endParaRPr/>
          </a:p>
        </p:txBody>
      </p:sp>
      <p:sp>
        <p:nvSpPr>
          <p:cNvPr id="388" name="Google Shape;388;p25"/>
          <p:cNvSpPr txBox="1"/>
          <p:nvPr/>
        </p:nvSpPr>
        <p:spPr>
          <a:xfrm>
            <a:off x="7431044" y="2366962"/>
            <a:ext cx="1804131"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021B2E"/>
                </a:solidFill>
                <a:latin typeface="Poppins SemiBold"/>
                <a:ea typeface="Poppins SemiBold"/>
                <a:cs typeface="Poppins SemiBold"/>
                <a:sym typeface="Poppins SemiBold"/>
              </a:rPr>
              <a:t>Classification</a:t>
            </a:r>
            <a:endParaRPr/>
          </a:p>
        </p:txBody>
      </p:sp>
      <p:sp>
        <p:nvSpPr>
          <p:cNvPr id="389" name="Google Shape;389;p25"/>
          <p:cNvSpPr txBox="1"/>
          <p:nvPr/>
        </p:nvSpPr>
        <p:spPr>
          <a:xfrm>
            <a:off x="7473999" y="2728912"/>
            <a:ext cx="17181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50">
                <a:solidFill>
                  <a:srgbClr val="0DB4B9"/>
                </a:solidFill>
                <a:latin typeface="Lato"/>
                <a:ea typeface="Lato"/>
                <a:cs typeface="Lato"/>
                <a:sym typeface="Lato"/>
              </a:rPr>
              <a:t>SVM with RBF kernel </a:t>
            </a:r>
            <a:r>
              <a:rPr b="1" i="0" lang="en-US" sz="1050" u="none" cap="none" strike="noStrike">
                <a:solidFill>
                  <a:srgbClr val="0DB4B9"/>
                </a:solidFill>
                <a:latin typeface="Lato"/>
                <a:ea typeface="Lato"/>
                <a:cs typeface="Lato"/>
                <a:sym typeface="Lato"/>
              </a:rPr>
              <a:t>/ ANN</a:t>
            </a:r>
            <a:endParaRPr/>
          </a:p>
        </p:txBody>
      </p:sp>
      <p:sp>
        <p:nvSpPr>
          <p:cNvPr id="390" name="Google Shape;390;p25"/>
          <p:cNvSpPr txBox="1"/>
          <p:nvPr/>
        </p:nvSpPr>
        <p:spPr>
          <a:xfrm>
            <a:off x="7473999" y="2986087"/>
            <a:ext cx="1718100" cy="173100"/>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475569"/>
                </a:solidFill>
                <a:latin typeface="Lato"/>
                <a:ea typeface="Lato"/>
                <a:cs typeface="Lato"/>
                <a:sym typeface="Lato"/>
              </a:rPr>
              <a:t>Predict health_class.</a:t>
            </a:r>
            <a:endParaRPr/>
          </a:p>
        </p:txBody>
      </p:sp>
      <p:sp>
        <p:nvSpPr>
          <p:cNvPr id="391" name="Google Shape;391;p25"/>
          <p:cNvSpPr txBox="1"/>
          <p:nvPr/>
        </p:nvSpPr>
        <p:spPr>
          <a:xfrm>
            <a:off x="9668377" y="4500562"/>
            <a:ext cx="1804131"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021B2E"/>
                </a:solidFill>
                <a:latin typeface="Poppins SemiBold"/>
                <a:ea typeface="Poppins SemiBold"/>
                <a:cs typeface="Poppins SemiBold"/>
                <a:sym typeface="Poppins SemiBold"/>
              </a:rPr>
              <a:t>Evaluation</a:t>
            </a:r>
            <a:endParaRPr/>
          </a:p>
        </p:txBody>
      </p:sp>
      <p:sp>
        <p:nvSpPr>
          <p:cNvPr id="392" name="Google Shape;392;p25"/>
          <p:cNvSpPr txBox="1"/>
          <p:nvPr/>
        </p:nvSpPr>
        <p:spPr>
          <a:xfrm>
            <a:off x="9711332" y="4862512"/>
            <a:ext cx="171822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DB4B9"/>
                </a:solidFill>
                <a:latin typeface="Lato"/>
                <a:ea typeface="Lato"/>
                <a:cs typeface="Lato"/>
                <a:sym typeface="Lato"/>
              </a:rPr>
              <a:t>TRADEOFFS</a:t>
            </a:r>
            <a:endParaRPr/>
          </a:p>
        </p:txBody>
      </p:sp>
      <p:sp>
        <p:nvSpPr>
          <p:cNvPr id="393" name="Google Shape;393;p25"/>
          <p:cNvSpPr txBox="1"/>
          <p:nvPr/>
        </p:nvSpPr>
        <p:spPr>
          <a:xfrm>
            <a:off x="9711332" y="5119687"/>
            <a:ext cx="1718220" cy="428625"/>
          </a:xfrm>
          <a:prstGeom prst="rect">
            <a:avLst/>
          </a:prstGeom>
          <a:noFill/>
          <a:ln>
            <a:noFill/>
          </a:ln>
        </p:spPr>
        <p:txBody>
          <a:bodyPr anchorCtr="0" anchor="t" bIns="0" lIns="0" spcFirstLastPara="1" rIns="0" wrap="square" tIns="0">
            <a:spAutoFit/>
          </a:bodyPr>
          <a:lstStyle/>
          <a:p>
            <a:pPr indent="0" lvl="0" marL="0" marR="0" rtl="0" algn="ctr">
              <a:lnSpc>
                <a:spcPct val="149955"/>
              </a:lnSpc>
              <a:spcBef>
                <a:spcPts val="0"/>
              </a:spcBef>
              <a:spcAft>
                <a:spcPts val="0"/>
              </a:spcAft>
              <a:buNone/>
            </a:pPr>
            <a:r>
              <a:rPr b="0" i="0" lang="en-US" sz="1125" u="none" cap="none" strike="noStrike">
                <a:solidFill>
                  <a:srgbClr val="475569"/>
                </a:solidFill>
                <a:latin typeface="Lato"/>
                <a:ea typeface="Lato"/>
                <a:cs typeface="Lato"/>
                <a:sym typeface="Lato"/>
              </a:rPr>
              <a:t>Compare models on precision, recall, and bias.</a:t>
            </a:r>
            <a:endParaRPr/>
          </a:p>
        </p:txBody>
      </p:sp>
      <p:sp>
        <p:nvSpPr>
          <p:cNvPr id="394" name="Google Shape;394;p25"/>
          <p:cNvSpPr txBox="1"/>
          <p:nvPr/>
        </p:nvSpPr>
        <p:spPr>
          <a:xfrm>
            <a:off x="571500" y="714375"/>
            <a:ext cx="116016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021B2E"/>
                </a:solidFill>
                <a:latin typeface="Poppins SemiBold"/>
                <a:ea typeface="Poppins SemiBold"/>
                <a:cs typeface="Poppins SemiBold"/>
                <a:sym typeface="Poppins SemiBold"/>
              </a:rPr>
              <a:t>Phase 2 Preview </a:t>
            </a:r>
            <a:endParaRPr/>
          </a:p>
        </p:txBody>
      </p:sp>
      <p:sp>
        <p:nvSpPr>
          <p:cNvPr id="395" name="Google Shape;395;p25"/>
          <p:cNvSpPr/>
          <p:nvPr/>
        </p:nvSpPr>
        <p:spPr>
          <a:xfrm>
            <a:off x="1506810" y="3824287"/>
            <a:ext cx="228600" cy="228600"/>
          </a:xfrm>
          <a:prstGeom prst="roundRect">
            <a:avLst>
              <a:gd fmla="val 50000" name="adj"/>
            </a:avLst>
          </a:prstGeom>
          <a:solidFill>
            <a:srgbClr val="FFFFFF"/>
          </a:solidFill>
          <a:ln cap="flat" cmpd="sng" w="38100">
            <a:solidFill>
              <a:srgbClr val="0DB4B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6" name="Google Shape;396;p25"/>
          <p:cNvSpPr/>
          <p:nvPr/>
        </p:nvSpPr>
        <p:spPr>
          <a:xfrm>
            <a:off x="3744143" y="3824287"/>
            <a:ext cx="228600" cy="228600"/>
          </a:xfrm>
          <a:prstGeom prst="roundRect">
            <a:avLst>
              <a:gd fmla="val 50000" name="adj"/>
            </a:avLst>
          </a:prstGeom>
          <a:solidFill>
            <a:srgbClr val="FFFFFF"/>
          </a:solidFill>
          <a:ln cap="flat" cmpd="sng" w="38100">
            <a:solidFill>
              <a:srgbClr val="02C3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7" name="Google Shape;397;p25"/>
          <p:cNvSpPr/>
          <p:nvPr/>
        </p:nvSpPr>
        <p:spPr>
          <a:xfrm>
            <a:off x="5981476" y="3824287"/>
            <a:ext cx="228600" cy="228600"/>
          </a:xfrm>
          <a:prstGeom prst="roundRect">
            <a:avLst>
              <a:gd fmla="val 50000" name="adj"/>
            </a:avLst>
          </a:prstGeom>
          <a:solidFill>
            <a:srgbClr val="FFFFFF"/>
          </a:solidFill>
          <a:ln cap="flat" cmpd="sng" w="38100">
            <a:solidFill>
              <a:srgbClr val="0DB4B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8" name="Google Shape;398;p25"/>
          <p:cNvSpPr/>
          <p:nvPr/>
        </p:nvSpPr>
        <p:spPr>
          <a:xfrm>
            <a:off x="8218809" y="3824287"/>
            <a:ext cx="228600" cy="228600"/>
          </a:xfrm>
          <a:prstGeom prst="roundRect">
            <a:avLst>
              <a:gd fmla="val 50000" name="adj"/>
            </a:avLst>
          </a:prstGeom>
          <a:solidFill>
            <a:srgbClr val="FFFFFF"/>
          </a:solidFill>
          <a:ln cap="flat" cmpd="sng" w="38100">
            <a:solidFill>
              <a:srgbClr val="02C3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9" name="Google Shape;399;p25"/>
          <p:cNvSpPr/>
          <p:nvPr/>
        </p:nvSpPr>
        <p:spPr>
          <a:xfrm>
            <a:off x="10456143" y="3824287"/>
            <a:ext cx="228600" cy="228600"/>
          </a:xfrm>
          <a:prstGeom prst="roundRect">
            <a:avLst>
              <a:gd fmla="val 50000" name="adj"/>
            </a:avLst>
          </a:prstGeom>
          <a:solidFill>
            <a:srgbClr val="FFFFFF"/>
          </a:solidFill>
          <a:ln cap="flat" cmpd="sng" w="38100">
            <a:solidFill>
              <a:srgbClr val="0DB4B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descr="image.png" id="404" name="Google Shape;404;p26"/>
          <p:cNvPicPr preferRelativeResize="0"/>
          <p:nvPr/>
        </p:nvPicPr>
        <p:blipFill rotWithShape="1">
          <a:blip r:embed="rId3">
            <a:alphaModFix/>
          </a:blip>
          <a:srcRect b="0" l="0" r="0" t="0"/>
          <a:stretch/>
        </p:blipFill>
        <p:spPr>
          <a:xfrm>
            <a:off x="-2" y="11"/>
            <a:ext cx="12192000" cy="6858000"/>
          </a:xfrm>
          <a:prstGeom prst="rect">
            <a:avLst/>
          </a:prstGeom>
          <a:noFill/>
          <a:ln>
            <a:noFill/>
          </a:ln>
        </p:spPr>
      </p:pic>
      <p:sp>
        <p:nvSpPr>
          <p:cNvPr id="405" name="Google Shape;405;p26"/>
          <p:cNvSpPr txBox="1"/>
          <p:nvPr/>
        </p:nvSpPr>
        <p:spPr>
          <a:xfrm>
            <a:off x="571500" y="1657350"/>
            <a:ext cx="11601450" cy="1028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400" u="none" cap="none" strike="noStrike">
                <a:solidFill>
                  <a:srgbClr val="FFFFFF"/>
                </a:solidFill>
                <a:latin typeface="Poppins"/>
                <a:ea typeface="Poppins"/>
                <a:cs typeface="Poppins"/>
                <a:sym typeface="Poppins"/>
              </a:rPr>
              <a:t>Thank You</a:t>
            </a:r>
            <a:endParaRPr/>
          </a:p>
        </p:txBody>
      </p:sp>
      <p:sp>
        <p:nvSpPr>
          <p:cNvPr id="406" name="Google Shape;406;p26"/>
          <p:cNvSpPr txBox="1"/>
          <p:nvPr/>
        </p:nvSpPr>
        <p:spPr>
          <a:xfrm>
            <a:off x="571500" y="2876550"/>
            <a:ext cx="11049000" cy="371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1" lang="en-US" sz="1950" u="none" cap="none" strike="noStrike">
                <a:solidFill>
                  <a:srgbClr val="0DB4B9"/>
                </a:solidFill>
                <a:latin typeface="Lato"/>
                <a:ea typeface="Lato"/>
                <a:cs typeface="Lato"/>
                <a:sym typeface="Lato"/>
              </a:rPr>
              <a:t>Questions &amp; Discuss</a:t>
            </a:r>
            <a:r>
              <a:rPr b="0" i="1" lang="en-US" sz="1950" u="none" cap="none" strike="noStrike">
                <a:solidFill>
                  <a:srgbClr val="0DB4B9"/>
                </a:solidFill>
                <a:latin typeface="Lato"/>
                <a:ea typeface="Lato"/>
                <a:cs typeface="Lato"/>
                <a:sym typeface="Lato"/>
              </a:rPr>
              <a:t>i</a:t>
            </a:r>
            <a:r>
              <a:rPr b="0" i="1" lang="en-US" sz="1950" u="none" cap="none" strike="noStrike">
                <a:solidFill>
                  <a:srgbClr val="0DB4B9"/>
                </a:solidFill>
                <a:latin typeface="Lato"/>
                <a:ea typeface="Lato"/>
                <a:cs typeface="Lato"/>
                <a:sym typeface="Lato"/>
              </a:rPr>
              <a:t>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